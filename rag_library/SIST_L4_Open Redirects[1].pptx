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28"/>
  </p:notesMasterIdLst>
  <p:sldIdLst>
    <p:sldId id="307" r:id="rId2"/>
    <p:sldId id="308" r:id="rId3"/>
    <p:sldId id="313" r:id="rId4"/>
    <p:sldId id="309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7" r:id="rId15"/>
    <p:sldId id="323" r:id="rId16"/>
    <p:sldId id="324" r:id="rId17"/>
    <p:sldId id="325" r:id="rId18"/>
    <p:sldId id="326" r:id="rId19"/>
    <p:sldId id="328" r:id="rId20"/>
    <p:sldId id="329" r:id="rId21"/>
    <p:sldId id="330" r:id="rId22"/>
    <p:sldId id="331" r:id="rId23"/>
    <p:sldId id="332" r:id="rId24"/>
    <p:sldId id="333" r:id="rId25"/>
    <p:sldId id="334" r:id="rId26"/>
    <p:sldId id="335" r:id="rId27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493D3A-BBAB-422D-97BC-57AE1F9D3C52}" v="20" dt="2025-11-02T21:26:18.2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08"/>
    <p:restoredTop sz="83219" autoAdjust="0"/>
  </p:normalViewPr>
  <p:slideViewPr>
    <p:cSldViewPr>
      <p:cViewPr varScale="1">
        <p:scale>
          <a:sx n="79" d="100"/>
          <a:sy n="79" d="100"/>
        </p:scale>
        <p:origin x="1253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8" d="100"/>
          <a:sy n="128" d="100"/>
        </p:scale>
        <p:origin x="-1152" y="-11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ma Ayoub Ahmed Abdelaziz" userId="c8344243-367e-4e37-846f-05507288a907" providerId="ADAL" clId="{76C4FD3D-B02E-4A13-A530-57582E888C3B}"/>
    <pc:docChg chg="modSld">
      <pc:chgData name="Fatma Ayoub Ahmed Abdelaziz" userId="c8344243-367e-4e37-846f-05507288a907" providerId="ADAL" clId="{76C4FD3D-B02E-4A13-A530-57582E888C3B}" dt="2025-11-02T21:26:18.244" v="31"/>
      <pc:docMkLst>
        <pc:docMk/>
      </pc:docMkLst>
      <pc:sldChg chg="addSp delSp modSp mod">
        <pc:chgData name="Fatma Ayoub Ahmed Abdelaziz" userId="c8344243-367e-4e37-846f-05507288a907" providerId="ADAL" clId="{76C4FD3D-B02E-4A13-A530-57582E888C3B}" dt="2025-11-02T21:20:11.797" v="14"/>
        <pc:sldMkLst>
          <pc:docMk/>
          <pc:sldMk cId="401257741" sldId="322"/>
        </pc:sldMkLst>
        <pc:inkChg chg="add del">
          <ac:chgData name="Fatma Ayoub Ahmed Abdelaziz" userId="c8344243-367e-4e37-846f-05507288a907" providerId="ADAL" clId="{76C4FD3D-B02E-4A13-A530-57582E888C3B}" dt="2025-11-02T21:19:29.904" v="1"/>
          <ac:inkMkLst>
            <pc:docMk/>
            <pc:sldMk cId="401257741" sldId="322"/>
            <ac:inkMk id="5" creationId="{4363DF3D-8254-0FE6-397B-42929E68CCD4}"/>
          </ac:inkMkLst>
        </pc:inkChg>
        <pc:inkChg chg="add del">
          <ac:chgData name="Fatma Ayoub Ahmed Abdelaziz" userId="c8344243-367e-4e37-846f-05507288a907" providerId="ADAL" clId="{76C4FD3D-B02E-4A13-A530-57582E888C3B}" dt="2025-11-02T21:19:35.393" v="2"/>
          <ac:inkMkLst>
            <pc:docMk/>
            <pc:sldMk cId="401257741" sldId="322"/>
            <ac:inkMk id="6" creationId="{61E15CB7-06A5-AF7D-E6C3-1A586140EA23}"/>
          </ac:inkMkLst>
        </pc:inkChg>
        <pc:inkChg chg="add del">
          <ac:chgData name="Fatma Ayoub Ahmed Abdelaziz" userId="c8344243-367e-4e37-846f-05507288a907" providerId="ADAL" clId="{76C4FD3D-B02E-4A13-A530-57582E888C3B}" dt="2025-11-02T21:19:42.982" v="4"/>
          <ac:inkMkLst>
            <pc:docMk/>
            <pc:sldMk cId="401257741" sldId="322"/>
            <ac:inkMk id="7" creationId="{8DAB70B3-F9A3-7B5D-5C8C-51E52B1B5CC1}"/>
          </ac:inkMkLst>
        </pc:inkChg>
        <pc:inkChg chg="add mod">
          <ac:chgData name="Fatma Ayoub Ahmed Abdelaziz" userId="c8344243-367e-4e37-846f-05507288a907" providerId="ADAL" clId="{76C4FD3D-B02E-4A13-A530-57582E888C3B}" dt="2025-11-02T21:19:44.260" v="5"/>
          <ac:inkMkLst>
            <pc:docMk/>
            <pc:sldMk cId="401257741" sldId="322"/>
            <ac:inkMk id="8" creationId="{2C1019FD-CB1D-A403-B94A-517D20A3DF3F}"/>
          </ac:inkMkLst>
        </pc:inkChg>
        <pc:inkChg chg="add del">
          <ac:chgData name="Fatma Ayoub Ahmed Abdelaziz" userId="c8344243-367e-4e37-846f-05507288a907" providerId="ADAL" clId="{76C4FD3D-B02E-4A13-A530-57582E888C3B}" dt="2025-11-02T21:19:47.056" v="7"/>
          <ac:inkMkLst>
            <pc:docMk/>
            <pc:sldMk cId="401257741" sldId="322"/>
            <ac:inkMk id="9" creationId="{9EF338D7-1FC6-0CB4-159C-49E6902AFB83}"/>
          </ac:inkMkLst>
        </pc:inkChg>
        <pc:inkChg chg="add mod">
          <ac:chgData name="Fatma Ayoub Ahmed Abdelaziz" userId="c8344243-367e-4e37-846f-05507288a907" providerId="ADAL" clId="{76C4FD3D-B02E-4A13-A530-57582E888C3B}" dt="2025-11-02T21:19:49.671" v="8"/>
          <ac:inkMkLst>
            <pc:docMk/>
            <pc:sldMk cId="401257741" sldId="322"/>
            <ac:inkMk id="10" creationId="{020570CF-7FA9-21EF-88E5-B991E76E27FD}"/>
          </ac:inkMkLst>
        </pc:inkChg>
        <pc:inkChg chg="add del">
          <ac:chgData name="Fatma Ayoub Ahmed Abdelaziz" userId="c8344243-367e-4e37-846f-05507288a907" providerId="ADAL" clId="{76C4FD3D-B02E-4A13-A530-57582E888C3B}" dt="2025-11-02T21:19:53.055" v="10"/>
          <ac:inkMkLst>
            <pc:docMk/>
            <pc:sldMk cId="401257741" sldId="322"/>
            <ac:inkMk id="11" creationId="{A2718BC9-2E07-AD00-380B-616B2D6F1CE5}"/>
          </ac:inkMkLst>
        </pc:inkChg>
        <pc:inkChg chg="add mod">
          <ac:chgData name="Fatma Ayoub Ahmed Abdelaziz" userId="c8344243-367e-4e37-846f-05507288a907" providerId="ADAL" clId="{76C4FD3D-B02E-4A13-A530-57582E888C3B}" dt="2025-11-02T21:19:55.132" v="11"/>
          <ac:inkMkLst>
            <pc:docMk/>
            <pc:sldMk cId="401257741" sldId="322"/>
            <ac:inkMk id="12" creationId="{6A859FDC-F073-56BE-9EBB-709E0F81E84C}"/>
          </ac:inkMkLst>
        </pc:inkChg>
        <pc:inkChg chg="add">
          <ac:chgData name="Fatma Ayoub Ahmed Abdelaziz" userId="c8344243-367e-4e37-846f-05507288a907" providerId="ADAL" clId="{76C4FD3D-B02E-4A13-A530-57582E888C3B}" dt="2025-11-02T21:19:58.434" v="12" actId="9405"/>
          <ac:inkMkLst>
            <pc:docMk/>
            <pc:sldMk cId="401257741" sldId="322"/>
            <ac:inkMk id="13" creationId="{0D7F3FD0-7420-7DBD-122F-FE914F7F59F5}"/>
          </ac:inkMkLst>
        </pc:inkChg>
        <pc:inkChg chg="add del">
          <ac:chgData name="Fatma Ayoub Ahmed Abdelaziz" userId="c8344243-367e-4e37-846f-05507288a907" providerId="ADAL" clId="{76C4FD3D-B02E-4A13-A530-57582E888C3B}" dt="2025-11-02T21:20:11.797" v="14"/>
          <ac:inkMkLst>
            <pc:docMk/>
            <pc:sldMk cId="401257741" sldId="322"/>
            <ac:inkMk id="14" creationId="{564CF850-1EED-9040-0398-184DE22CDB4B}"/>
          </ac:inkMkLst>
        </pc:inkChg>
        <pc:inkChg chg="add">
          <ac:chgData name="Fatma Ayoub Ahmed Abdelaziz" userId="c8344243-367e-4e37-846f-05507288a907" providerId="ADAL" clId="{76C4FD3D-B02E-4A13-A530-57582E888C3B}" dt="2025-11-02T21:20:11.797" v="14"/>
          <ac:inkMkLst>
            <pc:docMk/>
            <pc:sldMk cId="401257741" sldId="322"/>
            <ac:inkMk id="15" creationId="{382B82DE-059D-8F5D-EA1C-5C8C8BCF83B9}"/>
          </ac:inkMkLst>
        </pc:inkChg>
      </pc:sldChg>
      <pc:sldChg chg="addSp delSp modSp mod">
        <pc:chgData name="Fatma Ayoub Ahmed Abdelaziz" userId="c8344243-367e-4e37-846f-05507288a907" providerId="ADAL" clId="{76C4FD3D-B02E-4A13-A530-57582E888C3B}" dt="2025-11-02T21:26:18.244" v="31"/>
        <pc:sldMkLst>
          <pc:docMk/>
          <pc:sldMk cId="525879860" sldId="327"/>
        </pc:sldMkLst>
        <pc:inkChg chg="add del">
          <ac:chgData name="Fatma Ayoub Ahmed Abdelaziz" userId="c8344243-367e-4e37-846f-05507288a907" providerId="ADAL" clId="{76C4FD3D-B02E-4A13-A530-57582E888C3B}" dt="2025-11-02T21:25:40.098" v="16"/>
          <ac:inkMkLst>
            <pc:docMk/>
            <pc:sldMk cId="525879860" sldId="327"/>
            <ac:inkMk id="4" creationId="{96C9BCF7-E4C5-5C51-53EC-315F9F09D5B7}"/>
          </ac:inkMkLst>
        </pc:inkChg>
        <pc:inkChg chg="add mod">
          <ac:chgData name="Fatma Ayoub Ahmed Abdelaziz" userId="c8344243-367e-4e37-846f-05507288a907" providerId="ADAL" clId="{76C4FD3D-B02E-4A13-A530-57582E888C3B}" dt="2025-11-02T21:25:43.011" v="17"/>
          <ac:inkMkLst>
            <pc:docMk/>
            <pc:sldMk cId="525879860" sldId="327"/>
            <ac:inkMk id="5" creationId="{9EADE4DD-AC81-F8D9-D36D-B45CA9DAC3C9}"/>
          </ac:inkMkLst>
        </pc:inkChg>
        <pc:inkChg chg="add del">
          <ac:chgData name="Fatma Ayoub Ahmed Abdelaziz" userId="c8344243-367e-4e37-846f-05507288a907" providerId="ADAL" clId="{76C4FD3D-B02E-4A13-A530-57582E888C3B}" dt="2025-11-02T21:25:46.088" v="19"/>
          <ac:inkMkLst>
            <pc:docMk/>
            <pc:sldMk cId="525879860" sldId="327"/>
            <ac:inkMk id="6" creationId="{3F0154EA-B9F2-F80D-BA62-98DC70B5727C}"/>
          </ac:inkMkLst>
        </pc:inkChg>
        <pc:inkChg chg="add mod">
          <ac:chgData name="Fatma Ayoub Ahmed Abdelaziz" userId="c8344243-367e-4e37-846f-05507288a907" providerId="ADAL" clId="{76C4FD3D-B02E-4A13-A530-57582E888C3B}" dt="2025-11-02T21:25:48.343" v="20"/>
          <ac:inkMkLst>
            <pc:docMk/>
            <pc:sldMk cId="525879860" sldId="327"/>
            <ac:inkMk id="7" creationId="{C3FCF8DC-86C9-DCC3-9CED-E4DD22CF1684}"/>
          </ac:inkMkLst>
        </pc:inkChg>
        <pc:inkChg chg="add del">
          <ac:chgData name="Fatma Ayoub Ahmed Abdelaziz" userId="c8344243-367e-4e37-846f-05507288a907" providerId="ADAL" clId="{76C4FD3D-B02E-4A13-A530-57582E888C3B}" dt="2025-11-02T21:25:55.942" v="22"/>
          <ac:inkMkLst>
            <pc:docMk/>
            <pc:sldMk cId="525879860" sldId="327"/>
            <ac:inkMk id="8" creationId="{B1F2DBD2-3E23-988C-4399-1F6AF50D6426}"/>
          </ac:inkMkLst>
        </pc:inkChg>
        <pc:inkChg chg="add del">
          <ac:chgData name="Fatma Ayoub Ahmed Abdelaziz" userId="c8344243-367e-4e37-846f-05507288a907" providerId="ADAL" clId="{76C4FD3D-B02E-4A13-A530-57582E888C3B}" dt="2025-11-02T21:26:04.142" v="24"/>
          <ac:inkMkLst>
            <pc:docMk/>
            <pc:sldMk cId="525879860" sldId="327"/>
            <ac:inkMk id="9" creationId="{7824B2EF-DCFA-FB10-110A-920AFA1C1265}"/>
          </ac:inkMkLst>
        </pc:inkChg>
        <pc:inkChg chg="add mod">
          <ac:chgData name="Fatma Ayoub Ahmed Abdelaziz" userId="c8344243-367e-4e37-846f-05507288a907" providerId="ADAL" clId="{76C4FD3D-B02E-4A13-A530-57582E888C3B}" dt="2025-11-02T21:26:05.463" v="25"/>
          <ac:inkMkLst>
            <pc:docMk/>
            <pc:sldMk cId="525879860" sldId="327"/>
            <ac:inkMk id="10" creationId="{BEC25238-1486-547B-3973-17369A6492AC}"/>
          </ac:inkMkLst>
        </pc:inkChg>
        <pc:inkChg chg="add del">
          <ac:chgData name="Fatma Ayoub Ahmed Abdelaziz" userId="c8344243-367e-4e37-846f-05507288a907" providerId="ADAL" clId="{76C4FD3D-B02E-4A13-A530-57582E888C3B}" dt="2025-11-02T21:26:08.693" v="27"/>
          <ac:inkMkLst>
            <pc:docMk/>
            <pc:sldMk cId="525879860" sldId="327"/>
            <ac:inkMk id="11" creationId="{0ED03965-73C6-2328-0C0E-6ADE86C5073C}"/>
          </ac:inkMkLst>
        </pc:inkChg>
        <pc:inkChg chg="add mod">
          <ac:chgData name="Fatma Ayoub Ahmed Abdelaziz" userId="c8344243-367e-4e37-846f-05507288a907" providerId="ADAL" clId="{76C4FD3D-B02E-4A13-A530-57582E888C3B}" dt="2025-11-02T21:26:11.741" v="28"/>
          <ac:inkMkLst>
            <pc:docMk/>
            <pc:sldMk cId="525879860" sldId="327"/>
            <ac:inkMk id="12" creationId="{19446FDA-C3B7-91A4-7CCB-54F5710FF9CD}"/>
          </ac:inkMkLst>
        </pc:inkChg>
        <pc:inkChg chg="add del">
          <ac:chgData name="Fatma Ayoub Ahmed Abdelaziz" userId="c8344243-367e-4e37-846f-05507288a907" providerId="ADAL" clId="{76C4FD3D-B02E-4A13-A530-57582E888C3B}" dt="2025-11-02T21:26:15.698" v="30"/>
          <ac:inkMkLst>
            <pc:docMk/>
            <pc:sldMk cId="525879860" sldId="327"/>
            <ac:inkMk id="13" creationId="{B3976518-6A3F-C5D3-C27E-EBE1029AA48C}"/>
          </ac:inkMkLst>
        </pc:inkChg>
        <pc:inkChg chg="add mod">
          <ac:chgData name="Fatma Ayoub Ahmed Abdelaziz" userId="c8344243-367e-4e37-846f-05507288a907" providerId="ADAL" clId="{76C4FD3D-B02E-4A13-A530-57582E888C3B}" dt="2025-11-02T21:26:18.244" v="31"/>
          <ac:inkMkLst>
            <pc:docMk/>
            <pc:sldMk cId="525879860" sldId="327"/>
            <ac:inkMk id="14" creationId="{A6E22897-5ABD-6EDE-9049-6F19041F11BD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21:19:42.9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 0,'8783'0'0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21:19:47.05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0,'9702'0'0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21:19:53.0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 0,'7783'0'0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2T21:19:58.4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1,'4391'0,"-4304"4,89 15,-16 0,172-6,-293-12,74 12,-47-3,27 2,83 10,220 1,-344-21,0 2,67 16,27 2,-31-7,-62-7,85 2,608-12,-717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21:20:11.79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4752 766 24575,'-2'30'0,"-3"0"0,-4 0 0,-4 0 0,-4-1 0,-3 1 0,-3-1 0,-4 0 0,-4-1 0,-3 0 0,-3 0 0,-4-1 0,-3-1 0,-3 0 0,-3-1 0,-4 0 0,-2-1 0,-3-1 0,-3 0 0,-3-2 0,-2 0 0,-3-1 0,-2-1 0,-2-1 0,-3 0 0,-2-2 0,-1-1 0,-2-1 0,-2-1 0,-2-1 0,-1-1 0,-1-1 0,-1-1 0,-1-2 0,-1 0 0,-1-2 0,-1-1 0,0-1 0,0-1 0,0-1 0,0-2 0,0-1 0,0-1 0,0-1 0,1-1 0,1-2 0,1 0 0,1-2 0,1-1 0,1-1 0,1-1 0,2-1 0,2-1 0,2-1 0,1-1 0,2-2 0,3 0 0,2-1 0,2-1 0,3-1 0,2 0 0,3-2 0,3 0 0,3-1 0,2-1 0,4 0 0,3-1 0,3 0 0,3-1 0,4-1 0,3 0 0,3 0 0,4-1 0,4 0 0,3-1 0,3 1 0,4-1 0,4 0 0,4 0 0,3 0 0,4 0 0,3 0 0,4 0 0,4 0 0,4 1 0,3-1 0,3 1 0,4 0 0,4 1 0,3 0 0,3 0 0,4 1 0,3 1 0,3 0 0,3 1 0,4 0 0,2 1 0,3 1 0,3 0 0,3 2 0,2 0 0,3 1 0,2 1 0,2 1 0,3 0 0,2 2 0,1 1 0,2 1 0,2 1 0,2 1 0,1 1 0,1 1 0,1 1 0,1 2 0,1 0 0,1 2 0,1 1 0,0 1 0,0 1 0,0 1 0,0 2 0,0 1 0,0 1 0,0 1 0,-1 1 0,-1 2 0,-1 0 0,-1 2 0,-1 1 0,-1 1 0,-1 1 0,-2 1 0,-2 1 0,-2 1 0,-1 1 0,-2 2 0,-3 0 0,-2 1 0,-2 1 0,-3 1 0,-2 0 0,-3 2 0,-3 0 0,-3 1 0,-2 1 0,-4 0 0,-3 1 0,-3 0 0,-3 1 0,-4 1 0,-3 0 0,-3 0 0,-4 1 0,-4 0 0,-3 1 0,-3-1 0,-4 1 0,-4 0 0,-4 0 0,-3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21:25:40.0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 0,'12220'0'0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21:25:46.0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0,'10026'0'0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21:26:04.1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37 0,'5323'0'0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21:26:08.6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54 0,'7463'0'0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21:26:15.6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 0,'9322'0'0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22531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13316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22534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22535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E0CDEB94-424E-144A-A294-F8571779C3C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797CDE-EF53-504B-BFCD-94AE144A17CE}" type="slidenum">
              <a:rPr lang="en-AU">
                <a:latin typeface="Arial" pitchFamily="-1" charset="0"/>
              </a:rPr>
              <a:pPr/>
              <a:t>1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FA8CB0-B256-FB46-8B41-13A19D2B6A57}" type="slidenum">
              <a:rPr lang="en-AU" smtClean="0">
                <a:latin typeface="Arial" pitchFamily="-1" charset="0"/>
              </a:rPr>
              <a:pPr/>
              <a:t>2</a:t>
            </a:fld>
            <a:endParaRPr lang="en-AU" dirty="0">
              <a:latin typeface="Arial" pitchFamily="-1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CDEB94-424E-144A-A294-F8571779C3C6}" type="slidenum">
              <a:rPr lang="en-AU" smtClean="0"/>
              <a:pPr>
                <a:defRPr/>
              </a:pPr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44585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CDEB94-424E-144A-A294-F8571779C3C6}" type="slidenum">
              <a:rPr lang="en-AU" smtClean="0"/>
              <a:pPr>
                <a:defRPr/>
              </a:pPr>
              <a:t>13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636191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CDEB94-424E-144A-A294-F8571779C3C6}" type="slidenum">
              <a:rPr lang="en-AU" smtClean="0"/>
              <a:pPr>
                <a:defRPr/>
              </a:pPr>
              <a:t>17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20840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Obfuscated URLs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CDEB94-424E-144A-A294-F8571779C3C6}" type="slidenum">
              <a:rPr lang="en-AU" smtClean="0"/>
              <a:pPr>
                <a:defRPr/>
              </a:pPr>
              <a:t>19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5424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6BB25-AD31-707B-8091-310C07A92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5239C9-6AB5-152C-5EF4-91E11C341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3CB48A-0922-B4C9-392F-E3F7CAF7E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48792-8DDE-9FC0-AEC0-ACC3778DED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CDEB94-424E-144A-A294-F8571779C3C6}" type="slidenum">
              <a:rPr lang="en-AU" smtClean="0"/>
              <a:pPr>
                <a:defRPr/>
              </a:pPr>
              <a:t>20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8211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63E1D-9484-72D0-A456-D41CC3BB9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374D05-F4BA-B105-EAC3-7ABAAF09EC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E40752-E823-7694-07AD-EFBCE08E2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Validator double decodes URLs while browser doesn’t.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098C9-F5D8-F19B-03F3-C5B2BD8CFF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CDEB94-424E-144A-A294-F8571779C3C6}" type="slidenum">
              <a:rPr lang="en-AU" smtClean="0"/>
              <a:pPr>
                <a:defRPr/>
              </a:pPr>
              <a:t>21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27645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39C3B-2C8E-586E-13C3-9B49DB400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7C13FE-3ACD-23A7-0FCC-EF82B2366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1C8A5D-2ECF-2C1C-9C84-3F22D660F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Browser double decodes URLs while validator doesn’t.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BD7E4-AD46-DFFE-062F-8B2D785CF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CDEB94-424E-144A-A294-F8571779C3C6}" type="slidenum">
              <a:rPr lang="en-AU" smtClean="0"/>
              <a:pPr>
                <a:defRPr/>
              </a:pPr>
              <a:t>22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2187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E2B3E-5F45-85F5-0323-99F1BB8DB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B82692-3DA3-8049-82CC-8510B5D0C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16CD8-87C8-8E2B-BCB9-55CA4A837B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%ff is the character </a:t>
            </a:r>
            <a:r>
              <a:rPr lang="en-US" dirty="0" err="1"/>
              <a:t>ÿ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6ABD3-C68C-BB12-8BC3-48666ED39D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CDEB94-424E-144A-A294-F8571779C3C6}" type="slidenum">
              <a:rPr lang="en-AU" smtClean="0"/>
              <a:pPr>
                <a:defRPr/>
              </a:pPr>
              <a:t>23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8211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C933-C0E9-C5EB-1A48-11E23A32B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B8F5AB-CD3F-8993-F6A0-43E309FE3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BFEE1-844D-67E1-982B-30D6FEA44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DC317-BF50-0B76-E144-8F9CBB493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7D358-3DBF-1661-0922-11E908556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E89803-1ED4-3A4F-BD32-2433A46CC5A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952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83437-D510-C89D-7199-62FD39C99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BFBC0-6DD9-35A7-EB23-D5757F011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ABB6C-431C-61E6-1637-C171E7E2A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79C06-C7C4-35AE-6C39-0D37D2D3A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7A594-BDD6-7F8D-C776-AA8F6422C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2FB95B-9CE7-A047-A167-44F68D48CF2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16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10888-8FBB-D177-664E-EAE7E698E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4C2DA-8D1A-B49E-9715-F67EF8019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581FD-7602-F439-D84B-2BAFE9EF3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99454-B1B7-5412-C203-B5073D9AD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37E96-0C1C-5FA5-0E2A-A581D5D81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64691-7625-BB4B-A163-F0128982852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057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ACCBE-17AB-FF4A-14DD-AEE48B827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DC98E-E2DB-0887-8012-A98309E8E2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C38E2E-EE71-B394-E8CB-F78B1F684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F119E-D06B-22CC-599B-FBB56687D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E9828-378C-2F12-8D2C-A0603040B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A9E5C-9E86-FD2E-EDD1-8281688DF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E1D359-7C78-AA4C-98BC-861E6D6A275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066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E2F24-C34A-C068-21C7-CA2F48769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34E28-0BA1-DC01-91EF-9091BF235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0536E-C5CA-C5B3-D653-200BED8BF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65B56A-F42B-0EB2-A261-34A98DBC8F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1A40D0-5749-9795-FF9E-A171973562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6A343C-0EA1-2F34-CA8C-61445445C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8DCE63-7378-B21D-B5D9-7F73394AB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4ADD6-93B8-751C-AA31-E43BB5F4D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3ABF74-43A9-3646-B0C0-E49ECC19E33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458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C0F92-1E33-E141-AE42-568EE3F3F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D80A46-75E8-E563-17A8-B6D06FE3A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6BC9C7-AD1F-EF84-4A4E-B37CA187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3D2206-CFCF-8E3F-676A-EFC1858EF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A2FEC-FAE7-B44B-A1E6-25A45D2DB61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345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B9CCAD-89A6-9330-AC39-E002B1023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B2514E-BEA5-B5E9-496F-B022B9339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DD650-8768-2FD5-FA16-CD996CBB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E165ED-656A-D844-921A-9EBBD6C35F2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52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DCB35-5D82-F5FD-F0A6-99283F977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25796-E9EC-9BDD-3A93-617B55A39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66DFDE-B58A-61FD-9855-47E8AB284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16FE4-ACE0-2F16-8F9E-4554CCA14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BA0E4-482A-6A0D-43EE-27C59437C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D7A8C-8BEA-EB1F-9782-F698A6266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667723-249F-5F47-A024-0ED35B4B907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17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BE7A1-DB0E-231D-7670-271E08281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C3E2DD-2BDA-CD51-76FF-8CD26FF51F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C53F67-A43B-6746-1140-8867C64C8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F4E2F-3AAA-B50D-FB7D-DC114573B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BDE63-D6EF-ED73-BDFC-E224E7A85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BE472-966D-F62C-B43C-164C037EA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111A01-9689-A34E-8D64-3E8DCDB54F8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179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8E5A2-2EC8-F81D-C883-471921812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127805-1E40-C1F0-E171-3F4D9B503F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6DEE4-6F56-C1E1-C469-09B4C3AAA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A1B9A-ED40-0C18-3643-E6AF87D45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28D3B-D711-5F8B-34BF-C6625BA1F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DEC22D-616A-8940-96A4-9F7CC246C23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13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390E0C-B968-414B-F199-02E710A22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A49CEF-3EB4-5BDF-50DF-BC3332EB8D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22333-49BE-3C88-04A4-E5BC5FC23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1DD99-123B-058D-407E-FDE453AC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0387E-9F6C-910C-1A0E-B2757C527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FE098C-F631-B640-A1D5-5E0529F0EEC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163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EEE399-CE78-E8A6-932D-AC500059A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E7E12-C860-2942-9A3D-6C93B17DA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6DE30-A040-9634-FC6E-D9114CADB2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B448C-2349-6A8B-2E5D-9D1B38FC0B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080D8-062F-BD38-D093-A03778EE6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6A02C28B-1EC7-6D4A-BF01-92C93DDA3D4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684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login?redir=https://example.com/dashboard" TargetMode="External"/><Relationship Id="rId2" Type="http://schemas.openxmlformats.org/officeDocument/2006/relationships/hyperlink" Target="https://example.com/login?redirect=https://example.com/dashboar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xample.com/login?n=dashboard" TargetMode="External"/><Relationship Id="rId5" Type="http://schemas.openxmlformats.org/officeDocument/2006/relationships/hyperlink" Target="https://example.com/login?forward=/dashboard" TargetMode="External"/><Relationship Id="rId4" Type="http://schemas.openxmlformats.org/officeDocument/2006/relationships/hyperlink" Target="https://example.com/login?next=https://example.com/dashboard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0" Type="http://schemas.openxmlformats.org/officeDocument/2006/relationships/customXml" Target="../ink/ink10.xml"/><Relationship Id="rId4" Type="http://schemas.openxmlformats.org/officeDocument/2006/relationships/customXml" Target="../ink/ink7.xml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hyperlink" Target="https://attacker.com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openaire.eu/find-out-the-most-recent-novelties-on-the-dashboard-for-content-providers" TargetMode="External"/><Relationship Id="rId5" Type="http://schemas.openxmlformats.org/officeDocument/2006/relationships/image" Target="../media/image19.jpg"/><Relationship Id="rId4" Type="http://schemas.openxmlformats.org/officeDocument/2006/relationships/hyperlink" Target="https://courses.lumenlearning.com/computerapps/chapter/reading-web-browser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5.png"/><Relationship Id="rId7" Type="http://schemas.openxmlformats.org/officeDocument/2006/relationships/hyperlink" Target="https://www.openaire.eu/find-out-the-most-recent-novelties-on-the-dashboard-for-content-provider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11" Type="http://schemas.openxmlformats.org/officeDocument/2006/relationships/hyperlink" Target="https://pixabay.com/pt/aviso-perigo-perigoso-inscreva-se-36073/" TargetMode="External"/><Relationship Id="rId5" Type="http://schemas.openxmlformats.org/officeDocument/2006/relationships/hyperlink" Target="https://courses.lumenlearning.com/computerapps/chapter/reading-web-browser/" TargetMode="External"/><Relationship Id="rId10" Type="http://schemas.openxmlformats.org/officeDocument/2006/relationships/image" Target="../media/image28.png"/><Relationship Id="rId4" Type="http://schemas.openxmlformats.org/officeDocument/2006/relationships/image" Target="../media/image18.png"/><Relationship Id="rId9" Type="http://schemas.openxmlformats.org/officeDocument/2006/relationships/hyperlink" Target="https://pixabay.com/en/wrong-incorrect-delete-abort-295503/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en/wrong-incorrect-delete-abort-295503/" TargetMode="External"/><Relationship Id="rId3" Type="http://schemas.openxmlformats.org/officeDocument/2006/relationships/image" Target="../media/image18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openaire.eu/find-out-the-most-recent-novelties-on-the-dashboard-for-content-providers" TargetMode="External"/><Relationship Id="rId11" Type="http://schemas.openxmlformats.org/officeDocument/2006/relationships/image" Target="../media/image29.png"/><Relationship Id="rId5" Type="http://schemas.openxmlformats.org/officeDocument/2006/relationships/image" Target="../media/image19.jpg"/><Relationship Id="rId10" Type="http://schemas.openxmlformats.org/officeDocument/2006/relationships/hyperlink" Target="https://pixabay.com/pt/aviso-perigo-perigoso-inscreva-se-36073/" TargetMode="External"/><Relationship Id="rId4" Type="http://schemas.openxmlformats.org/officeDocument/2006/relationships/hyperlink" Target="https://courses.lumenlearning.com/computerapps/chapter/reading-web-browser/" TargetMode="External"/><Relationship Id="rId9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0.png"/><Relationship Id="rId7" Type="http://schemas.openxmlformats.org/officeDocument/2006/relationships/hyperlink" Target="https://www.openaire.eu/find-out-the-most-recent-novelties-on-the-dashboard-for-content-provider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11" Type="http://schemas.openxmlformats.org/officeDocument/2006/relationships/hyperlink" Target="https://pixabay.com/pt/aviso-perigo-perigoso-inscreva-se-36073/" TargetMode="External"/><Relationship Id="rId5" Type="http://schemas.openxmlformats.org/officeDocument/2006/relationships/hyperlink" Target="https://courses.lumenlearning.com/computerapps/chapter/reading-web-browser/" TargetMode="External"/><Relationship Id="rId10" Type="http://schemas.openxmlformats.org/officeDocument/2006/relationships/image" Target="../media/image28.png"/><Relationship Id="rId4" Type="http://schemas.openxmlformats.org/officeDocument/2006/relationships/image" Target="../media/image18.png"/><Relationship Id="rId9" Type="http://schemas.openxmlformats.org/officeDocument/2006/relationships/hyperlink" Target="https://pixabay.com/en/wrong-incorrect-delete-abort-295503/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vgsilh.com/image/1920630.html" TargetMode="External"/><Relationship Id="rId4" Type="http://schemas.openxmlformats.org/officeDocument/2006/relationships/image" Target="../media/image34.sv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b="1" i="0">
                <a:effectLst/>
              </a:rPr>
              <a:t>Systems and Internet Security Technologies</a:t>
            </a:r>
            <a:endParaRPr lang="en-AU" sz="410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79463" y="4653136"/>
            <a:ext cx="7583487" cy="1752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ar-SA" dirty="0"/>
              <a:t>تجميع وإعداد</a:t>
            </a:r>
          </a:p>
          <a:p>
            <a:pPr>
              <a:lnSpc>
                <a:spcPct val="90000"/>
              </a:lnSpc>
            </a:pPr>
            <a:r>
              <a:rPr lang="ar-SA" dirty="0"/>
              <a:t>أحمد حسين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8AD8D-6495-A91F-490C-890B9CAAF5B6}"/>
              </a:ext>
            </a:extLst>
          </p:cNvPr>
          <p:cNvSpPr txBox="1"/>
          <p:nvPr/>
        </p:nvSpPr>
        <p:spPr>
          <a:xfrm>
            <a:off x="3914616" y="4006805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Lecture 4</a:t>
            </a:r>
          </a:p>
          <a:p>
            <a:pPr algn="ctr"/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8 Oct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 defTabSz="914400" eaLnBrk="1" latinLnBrk="0" hangingPunct="1">
              <a:spcBef>
                <a:spcPct val="0"/>
              </a:spcBef>
              <a:buNone/>
              <a:defRPr/>
            </a:pPr>
            <a:r>
              <a:rPr lang="en-US" dirty="0"/>
              <a:t>Lecture 4</a:t>
            </a:r>
          </a:p>
        </p:txBody>
      </p:sp>
      <p:sp>
        <p:nvSpPr>
          <p:cNvPr id="19459" name="Subtitle 1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3600" dirty="0">
                <a:solidFill>
                  <a:schemeClr val="tx2">
                    <a:lumMod val="10000"/>
                  </a:schemeClr>
                </a:solidFill>
              </a:rPr>
              <a:t>Open Redirects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F74156-1853-7AFA-E7A7-773868F2E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202332"/>
            <a:ext cx="4871749" cy="64533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C49F1C-7225-AE58-CC34-CDC49686FF92}"/>
              </a:ext>
            </a:extLst>
          </p:cNvPr>
          <p:cNvSpPr txBox="1"/>
          <p:nvPr/>
        </p:nvSpPr>
        <p:spPr>
          <a:xfrm>
            <a:off x="467544" y="2060848"/>
            <a:ext cx="18902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Reference:</a:t>
            </a:r>
          </a:p>
          <a:p>
            <a:endParaRPr lang="en-US" b="1" dirty="0"/>
          </a:p>
          <a:p>
            <a:r>
              <a:rPr lang="en-US" b="1" dirty="0"/>
              <a:t>Chapter 7</a:t>
            </a:r>
          </a:p>
          <a:p>
            <a:r>
              <a:rPr lang="en-US" b="1" dirty="0"/>
              <a:t>Open Redirects</a:t>
            </a:r>
          </a:p>
        </p:txBody>
      </p:sp>
    </p:spTree>
    <p:extLst>
      <p:ext uri="{BB962C8B-B14F-4D97-AF65-F5344CB8AC3E}">
        <p14:creationId xmlns:p14="http://schemas.microsoft.com/office/powerpoint/2010/main" val="2084270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9624D-78E5-ACF7-3D59-0B90AE7E3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813A8-9442-0137-ABB6-9AEF1D412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571487"/>
            <a:ext cx="7886700" cy="4351338"/>
          </a:xfrm>
        </p:spPr>
        <p:txBody>
          <a:bodyPr/>
          <a:lstStyle/>
          <a:p>
            <a:r>
              <a:rPr lang="en-US" dirty="0"/>
              <a:t>Many sites automatically redirects users between its web pages to save user’s time and improve user’s experience.</a:t>
            </a:r>
          </a:p>
          <a:p>
            <a:r>
              <a:rPr lang="en-US" dirty="0"/>
              <a:t>If an attacker succeeds in modifying a URL redirect parameter, the victim will end up landing on an offsite page.</a:t>
            </a:r>
          </a:p>
          <a:p>
            <a:r>
              <a:rPr lang="en-US" dirty="0"/>
              <a:t>It’s easy to trick a user into clicking on a link that starts with a familiar domain while it redirects to a malicious page.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31E48E-9E76-D038-37D1-0E2764129F2D}"/>
              </a:ext>
            </a:extLst>
          </p:cNvPr>
          <p:cNvSpPr txBox="1"/>
          <p:nvPr/>
        </p:nvSpPr>
        <p:spPr>
          <a:xfrm>
            <a:off x="1475657" y="5235029"/>
            <a:ext cx="6769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http://e-</a:t>
            </a:r>
            <a:r>
              <a:rPr lang="en-US" i="1" dirty="0" err="1"/>
              <a:t>books.helwan.edu.eg</a:t>
            </a:r>
            <a:r>
              <a:rPr lang="en-US" i="1" dirty="0"/>
              <a:t>/</a:t>
            </a:r>
            <a:r>
              <a:rPr lang="en-US" i="1" dirty="0" err="1"/>
              <a:t>login?</a:t>
            </a:r>
            <a:r>
              <a:rPr lang="en-US" i="1" u="sng" dirty="0" err="1"/>
              <a:t>redirect</a:t>
            </a:r>
            <a:r>
              <a:rPr lang="en-US" i="1" u="sng" dirty="0"/>
              <a:t>=https://</a:t>
            </a:r>
            <a:r>
              <a:rPr lang="en-US" i="1" u="sng" dirty="0" err="1"/>
              <a:t>attacker.com</a:t>
            </a:r>
            <a:endParaRPr lang="en-US" i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A91F0-5BE3-D0D7-31A7-1E076B1E51A7}"/>
              </a:ext>
            </a:extLst>
          </p:cNvPr>
          <p:cNvSpPr txBox="1"/>
          <p:nvPr/>
        </p:nvSpPr>
        <p:spPr>
          <a:xfrm>
            <a:off x="404833" y="4005064"/>
            <a:ext cx="833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http://e-</a:t>
            </a:r>
            <a:r>
              <a:rPr lang="en-US" i="1" dirty="0" err="1"/>
              <a:t>books.helwan.edu.eg</a:t>
            </a:r>
            <a:r>
              <a:rPr lang="en-US" i="1" dirty="0"/>
              <a:t>/</a:t>
            </a:r>
            <a:r>
              <a:rPr lang="en-US" i="1" dirty="0" err="1"/>
              <a:t>login?redirect</a:t>
            </a:r>
            <a:r>
              <a:rPr lang="en-US" i="1" dirty="0"/>
              <a:t>=</a:t>
            </a:r>
            <a:r>
              <a:rPr lang="en-US" i="1" u="sng" dirty="0"/>
              <a:t>http://e-</a:t>
            </a:r>
            <a:r>
              <a:rPr lang="en-US" i="1" u="sng" dirty="0" err="1"/>
              <a:t>books.helwan.edu.eg</a:t>
            </a:r>
            <a:r>
              <a:rPr lang="en-US" i="1" u="sng" dirty="0"/>
              <a:t>/</a:t>
            </a:r>
            <a:r>
              <a:rPr lang="en-US" i="1" u="sng" dirty="0" err="1"/>
              <a:t>hufe</a:t>
            </a:r>
            <a:r>
              <a:rPr lang="en-US" i="1" u="sng" dirty="0"/>
              <a:t>/..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9076610-82BE-229F-8744-A034AF400631}"/>
              </a:ext>
            </a:extLst>
          </p:cNvPr>
          <p:cNvCxnSpPr/>
          <p:nvPr/>
        </p:nvCxnSpPr>
        <p:spPr>
          <a:xfrm>
            <a:off x="6660233" y="4374396"/>
            <a:ext cx="0" cy="860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020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A4DB1-761B-EA36-E023-8EF0BE07C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Escalating open redirect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37862-FEDA-5E6E-FBA9-E1559C665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The victim is tricked into clicking the link prepared by the attacker with an open redirect attack.</a:t>
            </a:r>
          </a:p>
          <a:p>
            <a:r>
              <a:rPr lang="en-US" dirty="0"/>
              <a:t>Once the victim opens a malicious page thinking it is legitimate, the attacker could employ social engineering techniques to steal victim’s credentials for the target legitimate website.</a:t>
            </a:r>
          </a:p>
        </p:txBody>
      </p:sp>
    </p:spTree>
    <p:extLst>
      <p:ext uri="{BB962C8B-B14F-4D97-AF65-F5344CB8AC3E}">
        <p14:creationId xmlns:p14="http://schemas.microsoft.com/office/powerpoint/2010/main" val="1583426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B03F7-4EF5-219C-E31D-883A03DD1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Referrer-based Open Redirect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AB37C-0E11-37ED-883D-2623A203B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Referrers indicate request origin (URL that linked to the current page).</a:t>
            </a:r>
          </a:p>
          <a:p>
            <a:r>
              <a:rPr lang="en-US" dirty="0"/>
              <a:t>An HTTP request header.</a:t>
            </a:r>
          </a:p>
          <a:p>
            <a:r>
              <a:rPr lang="en-US" dirty="0"/>
              <a:t>Automatically generated by browsers.</a:t>
            </a:r>
          </a:p>
          <a:p>
            <a:r>
              <a:rPr lang="en-US" dirty="0"/>
              <a:t>If, the targeted website uses a referrer-based redirect system and the victim was tricked into visiting the targeted website via a link within the attacker’s page, then the victim’s browser will automatically redirect to attacker’s site after the website visit.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263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DADFF-2ADC-B58B-412E-343E81D7C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prevent open redirect attacks?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B4AB7-94A9-9051-340C-98EDE78FD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URL validators: Does the URL point to a legitimate page?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There are two implementations:</a:t>
            </a:r>
          </a:p>
          <a:p>
            <a:pPr lvl="1"/>
            <a:r>
              <a:rPr lang="en-US" b="1" dirty="0"/>
              <a:t>Blocklist</a:t>
            </a:r>
            <a:r>
              <a:rPr lang="en-US" dirty="0"/>
              <a:t> (URL contains suspicious indicators?)</a:t>
            </a:r>
          </a:p>
          <a:p>
            <a:pPr lvl="1"/>
            <a:r>
              <a:rPr lang="en-US" b="1" dirty="0"/>
              <a:t>Allowlist</a:t>
            </a:r>
            <a:r>
              <a:rPr lang="en-US" dirty="0"/>
              <a:t> (URL hostname is in the allowlist?)	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555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EF157-7190-B366-9B31-D0349324D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68580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Why open redirects are so prevalent?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977E4-4D08-101C-B898-A2E0D9827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URL validation is not a simple task.</a:t>
            </a:r>
          </a:p>
          <a:p>
            <a:r>
              <a:rPr lang="en-US" dirty="0"/>
              <a:t>URL Parsing and decoding is challenging. </a:t>
            </a:r>
          </a:p>
          <a:p>
            <a:r>
              <a:rPr lang="en-US" dirty="0"/>
              <a:t>So, it’s hard for URL validators to correctly identify hostname portions of suspected URLs.</a:t>
            </a:r>
          </a:p>
          <a:p>
            <a:r>
              <a:rPr lang="en-US" dirty="0"/>
              <a:t>Attackers usually find ways to bypass URL validators.</a:t>
            </a:r>
          </a:p>
        </p:txBody>
      </p:sp>
    </p:spTree>
    <p:extLst>
      <p:ext uri="{BB962C8B-B14F-4D97-AF65-F5344CB8AC3E}">
        <p14:creationId xmlns:p14="http://schemas.microsoft.com/office/powerpoint/2010/main" val="559292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DE9B8-CE6A-93AC-08E3-F64DB8E1C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find open redirect vulnerabilities?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CE951-8B91-4AC2-319C-CE0975690773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/>
              <a:t>Search for URL parameters commonly used for redirects. For example:</a:t>
            </a:r>
          </a:p>
          <a:p>
            <a:pPr marL="342900" lvl="1" indent="0">
              <a:buNone/>
            </a:pPr>
            <a:endParaRPr lang="en-US" i="1" dirty="0">
              <a:solidFill>
                <a:srgbClr val="467886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342900" lvl="1" indent="0">
              <a:buNone/>
            </a:pPr>
            <a:r>
              <a:rPr lang="en-US" i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https://example.com/login?</a:t>
            </a:r>
            <a:r>
              <a:rPr lang="en-US" i="1" dirty="0">
                <a:solidFill>
                  <a:srgbClr val="C0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redirect</a:t>
            </a:r>
            <a:r>
              <a:rPr lang="en-US" i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=https://example.com/dashboard</a:t>
            </a:r>
            <a:endParaRPr lang="en-US" i="1" dirty="0"/>
          </a:p>
          <a:p>
            <a:pPr marL="342900" lvl="1" indent="0">
              <a:buNone/>
            </a:pPr>
            <a:r>
              <a:rPr lang="en-US" i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https://example.com/login?</a:t>
            </a:r>
            <a:r>
              <a:rPr lang="en-US" i="1" dirty="0">
                <a:solidFill>
                  <a:srgbClr val="C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redir</a:t>
            </a:r>
            <a:r>
              <a:rPr lang="en-US" i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=https://example.com/dashboard</a:t>
            </a:r>
            <a:endParaRPr lang="en-US" i="1" dirty="0"/>
          </a:p>
          <a:p>
            <a:pPr marL="342900" lvl="1" indent="0">
              <a:buNone/>
            </a:pPr>
            <a:r>
              <a:rPr lang="en-US" i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https://example.com/login?</a:t>
            </a:r>
            <a:r>
              <a:rPr lang="en-US" i="1" dirty="0">
                <a:solidFill>
                  <a:srgbClr val="C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r>
              <a:rPr lang="en-US" i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=https://example.com/dashboard</a:t>
            </a:r>
            <a:endParaRPr lang="en-US" i="1" dirty="0"/>
          </a:p>
          <a:p>
            <a:pPr marL="342900" lvl="1" indent="0">
              <a:buNone/>
            </a:pPr>
            <a:r>
              <a:rPr lang="en-US" i="1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https://example.com/login?</a:t>
            </a:r>
            <a:r>
              <a:rPr lang="en-US" i="1" dirty="0">
                <a:solidFill>
                  <a:srgbClr val="C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forward</a:t>
            </a:r>
            <a:r>
              <a:rPr lang="en-US" i="1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=/dashboard</a:t>
            </a:r>
            <a:endParaRPr lang="en-US" i="1" dirty="0"/>
          </a:p>
          <a:p>
            <a:pPr marL="342900" lvl="1" indent="0">
              <a:buNone/>
            </a:pPr>
            <a:r>
              <a:rPr lang="en-US" i="1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https://example.com/login?</a:t>
            </a:r>
            <a:r>
              <a:rPr lang="en-US" i="1" dirty="0">
                <a:solidFill>
                  <a:srgbClr val="C0000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</a:t>
            </a:r>
            <a:r>
              <a:rPr lang="en-US" i="1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=dashboard</a:t>
            </a:r>
            <a:endParaRPr lang="en-US" i="1" dirty="0"/>
          </a:p>
          <a:p>
            <a:pPr marL="342900" lvl="1" indent="0">
              <a:buNone/>
            </a:pPr>
            <a:endParaRPr lang="en-US" dirty="0"/>
          </a:p>
          <a:p>
            <a:r>
              <a:rPr lang="en-US" dirty="0"/>
              <a:t>Search proxy’s HTTP history for candidate parameters containing absolute or relative URLs.</a:t>
            </a:r>
          </a:p>
        </p:txBody>
      </p:sp>
    </p:spTree>
    <p:extLst>
      <p:ext uri="{BB962C8B-B14F-4D97-AF65-F5344CB8AC3E}">
        <p14:creationId xmlns:p14="http://schemas.microsoft.com/office/powerpoint/2010/main" val="2971474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409FC-BE85-12B9-34B2-9E3561191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F6C11-0340-15F3-9268-09ACA8751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find open redirect vulnerabilities?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7C9C3-7032-E6FE-2F02-FD4EE8C67D7F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/>
              <a:t>Use Google Dorks. </a:t>
            </a:r>
          </a:p>
          <a:p>
            <a:pPr lvl="1"/>
            <a:r>
              <a:rPr lang="en-US" dirty="0"/>
              <a:t>For example: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Cambria" panose="020405030504060302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</a:p>
          <a:p>
            <a:r>
              <a:rPr lang="en-US" dirty="0">
                <a:latin typeface="Cambria" panose="02040503050406030204" pitchFamily="18" charset="0"/>
                <a:cs typeface="Times New Roman" panose="02020603050405020304" pitchFamily="18" charset="0"/>
              </a:rPr>
              <a:t>%3D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`=` equal sign in URL encoding.</a:t>
            </a:r>
          </a:p>
          <a:p>
            <a:r>
              <a:rPr lang="en-US" dirty="0">
                <a:latin typeface="Cambria" panose="02040503050406030204" pitchFamily="18" charset="0"/>
                <a:cs typeface="Times New Roman" panose="02020603050405020304" pitchFamily="18" charset="0"/>
              </a:rPr>
              <a:t>%2F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`/` slash character in URL encoding.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824848-FB0A-2D57-86A8-5B24DE8AF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950" y="2838450"/>
            <a:ext cx="43561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964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25AB20-D55B-B941-5003-7D5E49837198}"/>
              </a:ext>
            </a:extLst>
          </p:cNvPr>
          <p:cNvSpPr txBox="1"/>
          <p:nvPr/>
        </p:nvSpPr>
        <p:spPr>
          <a:xfrm>
            <a:off x="625558" y="1916832"/>
            <a:ext cx="809067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each discovered redirection parameter as follows: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Insert a website of your choice as the redirect argument. For 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Does the target website redirect to the chosen website?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Redirection could happen immediately or after user interaction </a:t>
            </a:r>
            <a:br>
              <a:rPr lang="en-US" dirty="0"/>
            </a:br>
            <a:r>
              <a:rPr lang="en-US" dirty="0"/>
              <a:t>(e.g., login)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17E507-4963-9E0F-9B1B-F96AB685B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Manually testing for open redirect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8A59811-A69D-C0FD-CD1D-0A6EA6BB33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1640" y="3068960"/>
            <a:ext cx="63246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931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D918D-F78A-2F53-95E6-4F2E573A7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Manually testing for referrer-based open redirects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3FD84-D4B6-84B3-3FC9-E66880D03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Host the following simple web page in your own server.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Visit the target website via the above page by clicking the link.</a:t>
            </a:r>
          </a:p>
          <a:p>
            <a:r>
              <a:rPr lang="en-US" dirty="0"/>
              <a:t>Have you been automatically redirected to your page?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B90077-BC8A-1235-4E5D-5D8471CFE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20888"/>
            <a:ext cx="7772400" cy="68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498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F29FD-8B80-F3F2-C7F7-3EF5FDDB1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Open-Redirect Protection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BA595-ECB7-7222-D73C-5C11C880E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browser redirection depends on how it identifies the following </a:t>
            </a:r>
            <a:r>
              <a:rPr lang="en-US" u="sng" dirty="0"/>
              <a:t>URL components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URL validator should predict how the browser identifies URL components. Then, reject offsite redirections.</a:t>
            </a:r>
          </a:p>
          <a:p>
            <a:r>
              <a:rPr lang="en-US" dirty="0"/>
              <a:t>Redirection location is dictated by the hostname portion of the URL (as seen by the browser).</a:t>
            </a:r>
          </a:p>
          <a:p>
            <a:r>
              <a:rPr lang="en-US" dirty="0"/>
              <a:t>However, URLs are sometimes </a:t>
            </a:r>
            <a:r>
              <a:rPr lang="en-US" b="1" dirty="0"/>
              <a:t>malformed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Having out of order components.</a:t>
            </a:r>
          </a:p>
          <a:p>
            <a:pPr lvl="1"/>
            <a:r>
              <a:rPr lang="en-US" dirty="0"/>
              <a:t>Containing undecodable characters.</a:t>
            </a:r>
          </a:p>
          <a:p>
            <a:pPr lvl="1"/>
            <a:r>
              <a:rPr lang="en-US" dirty="0"/>
              <a:t>Having missing components.</a:t>
            </a:r>
          </a:p>
          <a:p>
            <a:pPr lvl="1"/>
            <a:r>
              <a:rPr lang="en-US" dirty="0"/>
              <a:t>Having extra components.</a:t>
            </a:r>
          </a:p>
          <a:p>
            <a:r>
              <a:rPr lang="en-US" dirty="0"/>
              <a:t>Inconsistent URL handling across different browsers!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CAF3ED-414B-76B1-27E2-0649A630F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276872"/>
            <a:ext cx="7239000" cy="863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C1019FD-CB1D-A403-B94A-517D20A3DF3F}"/>
                  </a:ext>
                </a:extLst>
              </p14:cNvPr>
              <p14:cNvContentPartPr/>
              <p14:nvPr/>
            </p14:nvContentPartPr>
            <p14:xfrm>
              <a:off x="1069721" y="4620477"/>
              <a:ext cx="3162240" cy="7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C1019FD-CB1D-A403-B94A-517D20A3DF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6081" y="4404477"/>
                <a:ext cx="32698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20570CF-7FA9-21EF-88E5-B991E76E27FD}"/>
                  </a:ext>
                </a:extLst>
              </p14:cNvPr>
              <p14:cNvContentPartPr/>
              <p14:nvPr/>
            </p14:nvContentPartPr>
            <p14:xfrm>
              <a:off x="1108601" y="4854117"/>
              <a:ext cx="3493080" cy="7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20570CF-7FA9-21EF-88E5-B991E76E27F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4601" y="4638117"/>
                <a:ext cx="36007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A859FDC-F073-56BE-9EBB-709E0F81E84C}"/>
                  </a:ext>
                </a:extLst>
              </p14:cNvPr>
              <p14:cNvContentPartPr/>
              <p14:nvPr/>
            </p14:nvContentPartPr>
            <p14:xfrm>
              <a:off x="1108601" y="5116197"/>
              <a:ext cx="2802240" cy="7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A859FDC-F073-56BE-9EBB-709E0F81E84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54601" y="4900197"/>
                <a:ext cx="29098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D7F3FD0-7420-7DBD-122F-FE914F7F59F5}"/>
                  </a:ext>
                </a:extLst>
              </p14:cNvPr>
              <p14:cNvContentPartPr/>
              <p14:nvPr/>
            </p14:nvContentPartPr>
            <p14:xfrm>
              <a:off x="1128401" y="5369637"/>
              <a:ext cx="2692800" cy="784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D7F3FD0-7420-7DBD-122F-FE914F7F59F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74401" y="5261997"/>
                <a:ext cx="280044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82B82DE-059D-8F5D-EA1C-5C8C8BCF83B9}"/>
                  </a:ext>
                </a:extLst>
              </p14:cNvPr>
              <p14:cNvContentPartPr/>
              <p14:nvPr/>
            </p14:nvContentPartPr>
            <p14:xfrm>
              <a:off x="3866201" y="4118997"/>
              <a:ext cx="1711080" cy="5515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82B82DE-059D-8F5D-EA1C-5C8C8BCF83B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57201" y="4109997"/>
                <a:ext cx="1728720" cy="56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257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461E1-51AC-061B-AE42-5EC18A175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CCD98-A9C9-DC57-66BF-F6497B4DF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Evading Open-Redirect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D71D0-996E-1C54-A69F-D36EFC9E2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Abusing browser autocorrect features</a:t>
            </a:r>
          </a:p>
          <a:p>
            <a:r>
              <a:rPr lang="en-US" dirty="0"/>
              <a:t>Exploiting flawed validator logic</a:t>
            </a:r>
          </a:p>
          <a:p>
            <a:r>
              <a:rPr lang="en-US" dirty="0"/>
              <a:t>Using data URLs</a:t>
            </a:r>
          </a:p>
          <a:p>
            <a:r>
              <a:rPr lang="en-US" dirty="0"/>
              <a:t>Exploiting URL decoding</a:t>
            </a:r>
          </a:p>
          <a:p>
            <a:pPr lvl="1"/>
            <a:r>
              <a:rPr lang="en-US" dirty="0"/>
              <a:t>Double decoding</a:t>
            </a:r>
          </a:p>
          <a:p>
            <a:pPr lvl="1"/>
            <a:r>
              <a:rPr lang="en-US" dirty="0"/>
              <a:t>Non-ASCII characters</a:t>
            </a:r>
          </a:p>
          <a:p>
            <a:r>
              <a:rPr lang="en-US" dirty="0"/>
              <a:t>Combining exploit techniques</a:t>
            </a:r>
          </a:p>
          <a:p>
            <a:endParaRPr lang="en-US" dirty="0"/>
          </a:p>
          <a:p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EADE4DD-AC81-F8D9-D36D-B45CA9DAC3C9}"/>
                  </a:ext>
                </a:extLst>
              </p14:cNvPr>
              <p14:cNvContentPartPr/>
              <p14:nvPr/>
            </p14:nvContentPartPr>
            <p14:xfrm>
              <a:off x="875321" y="1974117"/>
              <a:ext cx="4399560" cy="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EADE4DD-AC81-F8D9-D36D-B45CA9DAC3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1321" y="1758117"/>
                <a:ext cx="45072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3FCF8DC-86C9-DCC3-9CED-E4DD22CF1684}"/>
                  </a:ext>
                </a:extLst>
              </p14:cNvPr>
              <p14:cNvContentPartPr/>
              <p14:nvPr/>
            </p14:nvContentPartPr>
            <p14:xfrm>
              <a:off x="846161" y="2421957"/>
              <a:ext cx="3609720" cy="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3FCF8DC-86C9-DCC3-9CED-E4DD22CF168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2161" y="2205957"/>
                <a:ext cx="37173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EC25238-1486-547B-3973-17369A6492AC}"/>
                  </a:ext>
                </a:extLst>
              </p14:cNvPr>
              <p14:cNvContentPartPr/>
              <p14:nvPr/>
            </p14:nvContentPartPr>
            <p14:xfrm>
              <a:off x="885401" y="2762517"/>
              <a:ext cx="1916640" cy="7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EC25238-1486-547B-3973-17369A6492A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1401" y="2546517"/>
                <a:ext cx="20242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9446FDA-C3B7-91A4-7CCB-54F5710FF9CD}"/>
                  </a:ext>
                </a:extLst>
              </p14:cNvPr>
              <p14:cNvContentPartPr/>
              <p14:nvPr/>
            </p14:nvContentPartPr>
            <p14:xfrm>
              <a:off x="933281" y="3161397"/>
              <a:ext cx="2687040" cy="7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9446FDA-C3B7-91A4-7CCB-54F5710FF9C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79641" y="2945397"/>
                <a:ext cx="27946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6E22897-5ABD-6EDE-9049-6F19041F11BD}"/>
                  </a:ext>
                </a:extLst>
              </p14:cNvPr>
              <p14:cNvContentPartPr/>
              <p14:nvPr/>
            </p14:nvContentPartPr>
            <p14:xfrm>
              <a:off x="953081" y="4182717"/>
              <a:ext cx="3356280" cy="7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6E22897-5ABD-6EDE-9049-6F19041F11B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9441" y="3966717"/>
                <a:ext cx="3463920" cy="43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5879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AA446-06FC-4EB9-3E5B-5A2FBE3FC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Abusing browser autocorrect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311CE-B33C-1EE5-D32D-041EF4D9D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Browser autocorrect features try to fix user typos, such as,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Modern browsers usually replace backslashes with forward slashes.</a:t>
            </a:r>
            <a:br>
              <a:rPr lang="en-US" dirty="0"/>
            </a:br>
            <a:r>
              <a:rPr lang="en-US" dirty="0"/>
              <a:t>If the URL validator doesn’t treat backslashes as a path separator as well, an attacker can use the following URL to trick the validator.</a:t>
            </a:r>
          </a:p>
          <a:p>
            <a:pPr marL="3429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6B97CB-698D-6F70-8A15-2A043E70D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950" y="2294756"/>
            <a:ext cx="3340100" cy="1638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93CFFC-71F5-D95B-921B-195B08F87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100" y="5385733"/>
            <a:ext cx="4749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926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031DD-CC90-6E20-CEB4-0FC8697F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73026A-AE81-0964-CFE1-4B9D029AE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00" y="1844824"/>
            <a:ext cx="4749800" cy="812800"/>
          </a:xfrm>
          <a:prstGeom prst="rect">
            <a:avLst/>
          </a:prstGeom>
        </p:spPr>
      </p:pic>
      <p:pic>
        <p:nvPicPr>
          <p:cNvPr id="9" name="Picture 8" descr="A compass and globe with different symbols&#10;&#10;Description automatically generated with medium confidence">
            <a:extLst>
              <a:ext uri="{FF2B5EF4-FFF2-40B4-BE49-F238E27FC236}">
                <a16:creationId xmlns:a16="http://schemas.microsoft.com/office/drawing/2014/main" id="{3FDD42A1-5CBE-764A-D27E-512D8C78DE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328597" y="3316527"/>
            <a:ext cx="976499" cy="976499"/>
          </a:xfrm>
          <a:prstGeom prst="rect">
            <a:avLst/>
          </a:prstGeom>
        </p:spPr>
      </p:pic>
      <p:pic>
        <p:nvPicPr>
          <p:cNvPr id="14" name="Content Placeholder 13" descr="A logo of a database&#10;&#10;Description automatically generated">
            <a:extLst>
              <a:ext uri="{FF2B5EF4-FFF2-40B4-BE49-F238E27FC236}">
                <a16:creationId xmlns:a16="http://schemas.microsoft.com/office/drawing/2014/main" id="{EF7DA93C-F01D-5450-52CF-EC1534374D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b="39048"/>
          <a:stretch/>
        </p:blipFill>
        <p:spPr>
          <a:xfrm>
            <a:off x="5640415" y="3429000"/>
            <a:ext cx="1295400" cy="812800"/>
          </a:xfrm>
        </p:spPr>
      </p:pic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62C84991-B51E-C1E2-8ABA-EA07E4C01A33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rot="5400000">
            <a:off x="3364973" y="2109499"/>
            <a:ext cx="658903" cy="17551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F4FF97FE-7BD6-0022-CE2B-0B41F89D058A}"/>
              </a:ext>
            </a:extLst>
          </p:cNvPr>
          <p:cNvCxnSpPr>
            <a:endCxn id="14" idx="0"/>
          </p:cNvCxnSpPr>
          <p:nvPr/>
        </p:nvCxnSpPr>
        <p:spPr>
          <a:xfrm>
            <a:off x="4578827" y="2981291"/>
            <a:ext cx="1709288" cy="44770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35F32CA-15D6-8D10-B18A-4E72990B6A53}"/>
              </a:ext>
            </a:extLst>
          </p:cNvPr>
          <p:cNvSpPr txBox="1"/>
          <p:nvPr/>
        </p:nvSpPr>
        <p:spPr>
          <a:xfrm>
            <a:off x="5443009" y="4214370"/>
            <a:ext cx="1693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URL Validator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9C1380-CE07-5C3F-7087-DD6F02CE7734}"/>
              </a:ext>
            </a:extLst>
          </p:cNvPr>
          <p:cNvSpPr txBox="1"/>
          <p:nvPr/>
        </p:nvSpPr>
        <p:spPr>
          <a:xfrm>
            <a:off x="2262848" y="42418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Browser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DD5E3C-BDB6-A4B5-BE63-FBFA452FA5B4}"/>
              </a:ext>
            </a:extLst>
          </p:cNvPr>
          <p:cNvSpPr txBox="1"/>
          <p:nvPr/>
        </p:nvSpPr>
        <p:spPr>
          <a:xfrm>
            <a:off x="899592" y="5594801"/>
            <a:ext cx="353494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Redirects to </a:t>
            </a:r>
            <a:r>
              <a:rPr lang="en-US" dirty="0">
                <a:hlinkClick r:id="rId7"/>
              </a:rPr>
              <a:t>https://attacker.com</a:t>
            </a:r>
            <a:br>
              <a:rPr lang="en-US" dirty="0"/>
            </a:br>
            <a:r>
              <a:rPr lang="en-US" dirty="0"/>
              <a:t>with @</a:t>
            </a:r>
            <a:r>
              <a:rPr lang="en-US" dirty="0" err="1"/>
              <a:t>example.com</a:t>
            </a:r>
            <a:r>
              <a:rPr lang="en-US" dirty="0"/>
              <a:t> as the path!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070DCD-F68C-25A1-9BB6-29DB207896C8}"/>
              </a:ext>
            </a:extLst>
          </p:cNvPr>
          <p:cNvSpPr txBox="1"/>
          <p:nvPr/>
        </p:nvSpPr>
        <p:spPr>
          <a:xfrm>
            <a:off x="4860032" y="5594801"/>
            <a:ext cx="401904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Evaluates hostname as </a:t>
            </a:r>
            <a:r>
              <a:rPr lang="en-US" dirty="0" err="1"/>
              <a:t>example.com</a:t>
            </a:r>
            <a:br>
              <a:rPr lang="en-US" dirty="0"/>
            </a:br>
            <a:r>
              <a:rPr lang="en-US" dirty="0"/>
              <a:t>and username as </a:t>
            </a:r>
            <a:r>
              <a:rPr lang="en-US" dirty="0" err="1"/>
              <a:t>attacker.com</a:t>
            </a:r>
            <a:r>
              <a:rPr lang="en-US" dirty="0"/>
              <a:t>\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D81FFD-F3B1-F12C-1798-D546D0ADD5EC}"/>
              </a:ext>
            </a:extLst>
          </p:cNvPr>
          <p:cNvSpPr txBox="1"/>
          <p:nvPr/>
        </p:nvSpPr>
        <p:spPr>
          <a:xfrm>
            <a:off x="599586" y="4592410"/>
            <a:ext cx="2188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Browser autocorrects \ into /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AE4667F-9FFF-1B06-2E4A-C4B02034E52A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2816846" y="4611132"/>
            <a:ext cx="0" cy="8340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2B33F7E-8310-6C9D-D7A4-211404ED3E64}"/>
              </a:ext>
            </a:extLst>
          </p:cNvPr>
          <p:cNvCxnSpPr>
            <a:cxnSpLocks/>
          </p:cNvCxnSpPr>
          <p:nvPr/>
        </p:nvCxnSpPr>
        <p:spPr>
          <a:xfrm>
            <a:off x="6156176" y="4611132"/>
            <a:ext cx="0" cy="8340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3CF3DA1-9602-8FD8-E495-DF2C33B82605}"/>
              </a:ext>
            </a:extLst>
          </p:cNvPr>
          <p:cNvSpPr txBox="1"/>
          <p:nvPr/>
        </p:nvSpPr>
        <p:spPr>
          <a:xfrm>
            <a:off x="6290844" y="4801080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autocorrection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D66186-8485-F610-944D-DD704358E229}"/>
              </a:ext>
            </a:extLst>
          </p:cNvPr>
          <p:cNvSpPr txBox="1"/>
          <p:nvPr/>
        </p:nvSpPr>
        <p:spPr>
          <a:xfrm>
            <a:off x="4836075" y="6377070"/>
            <a:ext cx="4095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Thus, redirection is incorrectly allowed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595F22E4-A8F5-C036-F24A-A0DE4AFF6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/>
              <a:t>Abusing browser autocorrect features (cont.)</a:t>
            </a:r>
          </a:p>
        </p:txBody>
      </p:sp>
    </p:spTree>
    <p:extLst>
      <p:ext uri="{BB962C8B-B14F-4D97-AF65-F5344CB8AC3E}">
        <p14:creationId xmlns:p14="http://schemas.microsoft.com/office/powerpoint/2010/main" val="2410999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84F84-4CC7-3C30-74B4-F18995A24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Exploiting flawed validator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2839F-C0C7-BF49-780D-8DB505281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a URL validator merely looks for site’s domain name within in the redirection argument, the following URLs will trick such validator, why?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 attacker could bypass this validator by creating either a subdomain or a directory with the site’s domain name!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89C1A7-CB00-F474-5EED-AB804E172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037" y="3356992"/>
            <a:ext cx="7772400" cy="79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106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E9723-3427-5781-64D5-FEEDA422C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if the validator allows only redirections starting and ending with a domain name in the allowed list?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Could you bypass this protection?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Analyze the following URL: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Covering all edge cases with a custom-built validator is not trivial!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627A56-CCDE-2926-F821-ADEFBAC64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49080"/>
            <a:ext cx="7772400" cy="66169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3E0A8D9-2848-88AF-C540-F769B2963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Exploiting flawed validator logic (cont.)</a:t>
            </a:r>
          </a:p>
        </p:txBody>
      </p:sp>
    </p:spTree>
    <p:extLst>
      <p:ext uri="{BB962C8B-B14F-4D97-AF65-F5344CB8AC3E}">
        <p14:creationId xmlns:p14="http://schemas.microsoft.com/office/powerpoint/2010/main" val="313224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2D872-E08E-950A-280B-024F6A197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Using Data URLs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A27E91-BBBB-544B-9734-E2DA0591E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4355619"/>
            <a:ext cx="6438900" cy="482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7483E2-5C73-2455-BE6A-A73C86EAD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2697699"/>
            <a:ext cx="7772400" cy="6447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FCA9CD-9530-38E3-C064-D573BA07A8B1}"/>
              </a:ext>
            </a:extLst>
          </p:cNvPr>
          <p:cNvSpPr txBox="1"/>
          <p:nvPr/>
        </p:nvSpPr>
        <p:spPr>
          <a:xfrm>
            <a:off x="827584" y="5301208"/>
            <a:ext cx="7366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above script forces the browser to redirect to the supplied location.</a:t>
            </a:r>
          </a:p>
        </p:txBody>
      </p:sp>
    </p:spTree>
    <p:extLst>
      <p:ext uri="{BB962C8B-B14F-4D97-AF65-F5344CB8AC3E}">
        <p14:creationId xmlns:p14="http://schemas.microsoft.com/office/powerpoint/2010/main" val="3769125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B98FA-4C37-74B5-8860-0C5ED7F7A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F664A-EE15-2E5F-C76A-306261EB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Exploiting URL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DC8F5-6A61-1FD4-BEFE-B36E2654B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220" y="1555959"/>
            <a:ext cx="7886700" cy="297152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Applicable whenever there is a discrepancy between the way URL decoding is performed by browsers and validator.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Double encoding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93E8B3-AED8-D75D-6E11-E6E17ABA9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222" y="3717032"/>
            <a:ext cx="4533900" cy="622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0401C7-CEDA-A147-ED71-DAB33A0FB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3022" y="4437112"/>
            <a:ext cx="4686300" cy="622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DA4B33-D1D9-F39C-B655-397C05C07A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672" y="5174084"/>
            <a:ext cx="4953000" cy="533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1A3C69E-4E50-7A50-FBDD-0B7A4FCA5AB2}"/>
              </a:ext>
            </a:extLst>
          </p:cNvPr>
          <p:cNvSpPr txBox="1"/>
          <p:nvPr/>
        </p:nvSpPr>
        <p:spPr>
          <a:xfrm>
            <a:off x="6901944" y="3825984"/>
            <a:ext cx="1586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URL encoded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371E781-2BD9-2AFA-EBA2-ECFE61EF51D1}"/>
              </a:ext>
            </a:extLst>
          </p:cNvPr>
          <p:cNvCxnSpPr>
            <a:stCxn id="10" idx="1"/>
            <a:endCxn id="6" idx="3"/>
          </p:cNvCxnSpPr>
          <p:nvPr/>
        </p:nvCxnSpPr>
        <p:spPr>
          <a:xfrm flipH="1">
            <a:off x="6363122" y="4010650"/>
            <a:ext cx="538822" cy="17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CA30208-C2B9-2E6F-631F-6DE83A7EFC6B}"/>
              </a:ext>
            </a:extLst>
          </p:cNvPr>
          <p:cNvSpPr txBox="1"/>
          <p:nvPr/>
        </p:nvSpPr>
        <p:spPr>
          <a:xfrm>
            <a:off x="6842031" y="4546064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double encoded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9EDA4FA-BAFA-6044-E84D-A04ACD9894E6}"/>
              </a:ext>
            </a:extLst>
          </p:cNvPr>
          <p:cNvCxnSpPr>
            <a:cxnSpLocks/>
            <a:stCxn id="13" idx="1"/>
            <a:endCxn id="8" idx="3"/>
          </p:cNvCxnSpPr>
          <p:nvPr/>
        </p:nvCxnSpPr>
        <p:spPr>
          <a:xfrm flipH="1">
            <a:off x="6439322" y="4730730"/>
            <a:ext cx="402709" cy="17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EDE4570-7AC5-85DF-1CC2-6AF260E28123}"/>
              </a:ext>
            </a:extLst>
          </p:cNvPr>
          <p:cNvSpPr txBox="1"/>
          <p:nvPr/>
        </p:nvSpPr>
        <p:spPr>
          <a:xfrm>
            <a:off x="6901944" y="5196360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triple encoded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B37457A-0969-3D07-4830-AEF0D06B807C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6499235" y="5381026"/>
            <a:ext cx="402709" cy="14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830273C-BED2-8932-2704-433CFF09F106}"/>
              </a:ext>
            </a:extLst>
          </p:cNvPr>
          <p:cNvSpPr txBox="1"/>
          <p:nvPr/>
        </p:nvSpPr>
        <p:spPr>
          <a:xfrm>
            <a:off x="6640676" y="5705491"/>
            <a:ext cx="2038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N.B.</a:t>
            </a:r>
            <a:br>
              <a:rPr lang="en-US" sz="1200" dirty="0"/>
            </a:br>
            <a:r>
              <a:rPr lang="en-US" sz="1200" dirty="0"/>
              <a:t>‘/’  </a:t>
            </a:r>
            <a:r>
              <a:rPr lang="en-US" sz="1200" dirty="0">
                <a:sym typeface="Wingdings" pitchFamily="2" charset="2"/>
              </a:rPr>
              <a:t> </a:t>
            </a:r>
            <a:r>
              <a:rPr lang="en-US" sz="1200" dirty="0"/>
              <a:t>%2f  (forward slash)</a:t>
            </a:r>
          </a:p>
          <a:p>
            <a:r>
              <a:rPr lang="en-US" sz="1200" dirty="0"/>
              <a:t>‘%’ </a:t>
            </a:r>
            <a:r>
              <a:rPr lang="en-US" sz="1200" dirty="0">
                <a:sym typeface="Wingdings" pitchFamily="2" charset="2"/>
              </a:rPr>
              <a:t> %</a:t>
            </a:r>
            <a:r>
              <a:rPr lang="en-US" sz="1200" dirty="0"/>
              <a:t>25 (percentage)</a:t>
            </a:r>
          </a:p>
        </p:txBody>
      </p:sp>
    </p:spTree>
    <p:extLst>
      <p:ext uri="{BB962C8B-B14F-4D97-AF65-F5344CB8AC3E}">
        <p14:creationId xmlns:p14="http://schemas.microsoft.com/office/powerpoint/2010/main" val="28904980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3F9AD-4665-602F-C135-73F261FF1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6C7EA-F77B-1ADF-9C44-3DA347276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Encoding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9029EF-3EE0-6E71-1B0B-5F05688D6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1690689"/>
            <a:ext cx="4686300" cy="622300"/>
          </a:xfrm>
          <a:prstGeom prst="rect">
            <a:avLst/>
          </a:prstGeom>
        </p:spPr>
      </p:pic>
      <p:pic>
        <p:nvPicPr>
          <p:cNvPr id="11" name="Picture 10" descr="A compass and globe with different symbols&#10;&#10;Description automatically generated with medium confidence">
            <a:extLst>
              <a:ext uri="{FF2B5EF4-FFF2-40B4-BE49-F238E27FC236}">
                <a16:creationId xmlns:a16="http://schemas.microsoft.com/office/drawing/2014/main" id="{4E429636-3A29-6F5A-6B64-DF49B0F1CC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250003" y="2940750"/>
            <a:ext cx="976499" cy="976499"/>
          </a:xfrm>
          <a:prstGeom prst="rect">
            <a:avLst/>
          </a:prstGeom>
        </p:spPr>
      </p:pic>
      <p:pic>
        <p:nvPicPr>
          <p:cNvPr id="15" name="Content Placeholder 13" descr="A logo of a database&#10;&#10;Description automatically generated">
            <a:extLst>
              <a:ext uri="{FF2B5EF4-FFF2-40B4-BE49-F238E27FC236}">
                <a16:creationId xmlns:a16="http://schemas.microsoft.com/office/drawing/2014/main" id="{036F5A72-E84F-96F1-8519-8787C104AC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rcRect b="39048"/>
          <a:stretch/>
        </p:blipFill>
        <p:spPr>
          <a:xfrm>
            <a:off x="5561821" y="3053223"/>
            <a:ext cx="1295400" cy="812800"/>
          </a:xfrm>
        </p:spPr>
      </p:pic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A9A449B7-FBA2-5E56-89E2-309399C9261B}"/>
              </a:ext>
            </a:extLst>
          </p:cNvPr>
          <p:cNvCxnSpPr>
            <a:cxnSpLocks/>
            <a:endCxn id="11" idx="0"/>
          </p:cNvCxnSpPr>
          <p:nvPr/>
        </p:nvCxnSpPr>
        <p:spPr>
          <a:xfrm rot="5400000">
            <a:off x="3286379" y="1733722"/>
            <a:ext cx="658903" cy="17551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6676BC2D-0D16-2FD4-4BC3-8E533279872D}"/>
              </a:ext>
            </a:extLst>
          </p:cNvPr>
          <p:cNvCxnSpPr>
            <a:endCxn id="15" idx="0"/>
          </p:cNvCxnSpPr>
          <p:nvPr/>
        </p:nvCxnSpPr>
        <p:spPr>
          <a:xfrm>
            <a:off x="4500233" y="2605514"/>
            <a:ext cx="1709288" cy="44770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5B2B3B0-9AEA-01A1-AAA7-C9D4136544B9}"/>
              </a:ext>
            </a:extLst>
          </p:cNvPr>
          <p:cNvSpPr txBox="1"/>
          <p:nvPr/>
        </p:nvSpPr>
        <p:spPr>
          <a:xfrm>
            <a:off x="6235492" y="3981580"/>
            <a:ext cx="1266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Complete </a:t>
            </a:r>
            <a:br>
              <a:rPr lang="en-US" sz="1200" dirty="0"/>
            </a:br>
            <a:r>
              <a:rPr lang="en-US" sz="1200" dirty="0"/>
              <a:t>URL decoding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70048E-C4E6-355D-2353-9BC34E9718D7}"/>
              </a:ext>
            </a:extLst>
          </p:cNvPr>
          <p:cNvSpPr txBox="1"/>
          <p:nvPr/>
        </p:nvSpPr>
        <p:spPr>
          <a:xfrm>
            <a:off x="2752500" y="3996245"/>
            <a:ext cx="1266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Incomplete URL decoding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82EF30-763D-1668-4F13-70D853E2ECBE}"/>
              </a:ext>
            </a:extLst>
          </p:cNvPr>
          <p:cNvSpPr txBox="1"/>
          <p:nvPr/>
        </p:nvSpPr>
        <p:spPr>
          <a:xfrm>
            <a:off x="4482189" y="4552582"/>
            <a:ext cx="34546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https://</a:t>
            </a:r>
            <a:r>
              <a:rPr lang="en-US" sz="1600" dirty="0" err="1">
                <a:solidFill>
                  <a:schemeClr val="accent3"/>
                </a:solidFill>
              </a:rPr>
              <a:t>example.com</a:t>
            </a:r>
            <a:r>
              <a:rPr lang="en-US" sz="1600" dirty="0"/>
              <a:t>/@</a:t>
            </a:r>
            <a:r>
              <a:rPr lang="en-US" sz="1600" dirty="0" err="1"/>
              <a:t>attacker.com</a:t>
            </a:r>
            <a:endParaRPr lang="en-US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7EF783-29E8-CBA9-D668-CFCD757D1EAA}"/>
              </a:ext>
            </a:extLst>
          </p:cNvPr>
          <p:cNvSpPr txBox="1"/>
          <p:nvPr/>
        </p:nvSpPr>
        <p:spPr>
          <a:xfrm>
            <a:off x="5550909" y="5040266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Incorrectly allowed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8DB1728-2F2F-8B22-0246-CE56893D013E}"/>
              </a:ext>
            </a:extLst>
          </p:cNvPr>
          <p:cNvCxnSpPr>
            <a:stCxn id="15" idx="2"/>
            <a:endCxn id="24" idx="0"/>
          </p:cNvCxnSpPr>
          <p:nvPr/>
        </p:nvCxnSpPr>
        <p:spPr>
          <a:xfrm>
            <a:off x="6209521" y="3866023"/>
            <a:ext cx="0" cy="686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A red circle with a white x in it&#10;&#10;Description automatically generated">
            <a:extLst>
              <a:ext uri="{FF2B5EF4-FFF2-40B4-BE49-F238E27FC236}">
                <a16:creationId xmlns:a16="http://schemas.microsoft.com/office/drawing/2014/main" id="{7236D599-1AF8-C769-0860-57CC56462F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 flipV="1">
            <a:off x="5103085" y="5019064"/>
            <a:ext cx="447824" cy="447824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43097FC-F199-3681-3109-1E34AB81BAF0}"/>
              </a:ext>
            </a:extLst>
          </p:cNvPr>
          <p:cNvCxnSpPr>
            <a:stCxn id="11" idx="2"/>
          </p:cNvCxnSpPr>
          <p:nvPr/>
        </p:nvCxnSpPr>
        <p:spPr>
          <a:xfrm flipH="1">
            <a:off x="2738252" y="3917249"/>
            <a:ext cx="1" cy="635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6A2D1C9-F671-48E6-A75A-CBABC69F68A9}"/>
              </a:ext>
            </a:extLst>
          </p:cNvPr>
          <p:cNvSpPr txBox="1"/>
          <p:nvPr/>
        </p:nvSpPr>
        <p:spPr>
          <a:xfrm>
            <a:off x="673625" y="4545010"/>
            <a:ext cx="37512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https://example.com%2f@</a:t>
            </a:r>
            <a:r>
              <a:rPr lang="en-US" sz="1600" dirty="0">
                <a:solidFill>
                  <a:srgbClr val="C00000"/>
                </a:solidFill>
              </a:rPr>
              <a:t>attacker.com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21FF4F-9736-9A8E-492F-05A88C7DF171}"/>
              </a:ext>
            </a:extLst>
          </p:cNvPr>
          <p:cNvSpPr txBox="1"/>
          <p:nvPr/>
        </p:nvSpPr>
        <p:spPr>
          <a:xfrm>
            <a:off x="1259632" y="5057763"/>
            <a:ext cx="2788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Redirects to </a:t>
            </a:r>
            <a:r>
              <a:rPr lang="en-US" dirty="0" err="1"/>
              <a:t>attacker.com</a:t>
            </a:r>
            <a:endParaRPr lang="en-US" dirty="0"/>
          </a:p>
        </p:txBody>
      </p:sp>
      <p:pic>
        <p:nvPicPr>
          <p:cNvPr id="36" name="Picture 35" descr="A red triangle with a black exclamation mark&#10;&#10;Description automatically generated">
            <a:extLst>
              <a:ext uri="{FF2B5EF4-FFF2-40B4-BE49-F238E27FC236}">
                <a16:creationId xmlns:a16="http://schemas.microsoft.com/office/drawing/2014/main" id="{A5D2885C-4B39-EED1-B317-DAB6C82BFA1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827584" y="4980193"/>
            <a:ext cx="555436" cy="48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70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42F4A-A37C-7095-DEEB-C0B8F9DBC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16438-1D43-CE28-F3B0-DF49A7E36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Encoding (cont.)</a:t>
            </a:r>
          </a:p>
        </p:txBody>
      </p:sp>
      <p:pic>
        <p:nvPicPr>
          <p:cNvPr id="11" name="Picture 10" descr="A compass and globe with different symbols&#10;&#10;Description automatically generated with medium confidence">
            <a:extLst>
              <a:ext uri="{FF2B5EF4-FFF2-40B4-BE49-F238E27FC236}">
                <a16:creationId xmlns:a16="http://schemas.microsoft.com/office/drawing/2014/main" id="{330C18E4-FAF5-D5B5-5F4E-2C56783274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250003" y="2940750"/>
            <a:ext cx="976499" cy="976499"/>
          </a:xfrm>
          <a:prstGeom prst="rect">
            <a:avLst/>
          </a:prstGeom>
        </p:spPr>
      </p:pic>
      <p:pic>
        <p:nvPicPr>
          <p:cNvPr id="15" name="Content Placeholder 13" descr="A logo of a database&#10;&#10;Description automatically generated">
            <a:extLst>
              <a:ext uri="{FF2B5EF4-FFF2-40B4-BE49-F238E27FC236}">
                <a16:creationId xmlns:a16="http://schemas.microsoft.com/office/drawing/2014/main" id="{3A57E232-DA58-D675-F3DE-1AC3411C0D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b="39048"/>
          <a:stretch/>
        </p:blipFill>
        <p:spPr>
          <a:xfrm>
            <a:off x="5561821" y="3053223"/>
            <a:ext cx="1295400" cy="812800"/>
          </a:xfrm>
        </p:spPr>
      </p:pic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3C02FB6F-7E50-4E5E-F804-FB955E0E3A0A}"/>
              </a:ext>
            </a:extLst>
          </p:cNvPr>
          <p:cNvCxnSpPr>
            <a:cxnSpLocks/>
            <a:endCxn id="11" idx="0"/>
          </p:cNvCxnSpPr>
          <p:nvPr/>
        </p:nvCxnSpPr>
        <p:spPr>
          <a:xfrm rot="5400000">
            <a:off x="3286379" y="1733722"/>
            <a:ext cx="658903" cy="17551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4B9FF0D3-F634-A109-970E-AEFDF633A1AA}"/>
              </a:ext>
            </a:extLst>
          </p:cNvPr>
          <p:cNvCxnSpPr>
            <a:endCxn id="15" idx="0"/>
          </p:cNvCxnSpPr>
          <p:nvPr/>
        </p:nvCxnSpPr>
        <p:spPr>
          <a:xfrm>
            <a:off x="4500233" y="2605514"/>
            <a:ext cx="1709288" cy="44770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0DBBB16-985B-D970-1E99-9A3A9A3DDB1A}"/>
              </a:ext>
            </a:extLst>
          </p:cNvPr>
          <p:cNvSpPr txBox="1"/>
          <p:nvPr/>
        </p:nvSpPr>
        <p:spPr>
          <a:xfrm>
            <a:off x="2738252" y="3973278"/>
            <a:ext cx="1266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Complete </a:t>
            </a:r>
            <a:br>
              <a:rPr lang="en-US" sz="1200" dirty="0"/>
            </a:br>
            <a:r>
              <a:rPr lang="en-US" sz="1200" dirty="0"/>
              <a:t>URL decoding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8955F3-0DF3-A61C-AB61-6FD83130BF10}"/>
              </a:ext>
            </a:extLst>
          </p:cNvPr>
          <p:cNvSpPr txBox="1"/>
          <p:nvPr/>
        </p:nvSpPr>
        <p:spPr>
          <a:xfrm>
            <a:off x="6223768" y="3941787"/>
            <a:ext cx="1266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Incomplete URL decoding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73E6F5-7026-A75D-7C86-FCCDECC630B0}"/>
              </a:ext>
            </a:extLst>
          </p:cNvPr>
          <p:cNvSpPr txBox="1"/>
          <p:nvPr/>
        </p:nvSpPr>
        <p:spPr>
          <a:xfrm>
            <a:off x="4482189" y="4552582"/>
            <a:ext cx="37512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https://attacker.com%2f@</a:t>
            </a:r>
            <a:r>
              <a:rPr lang="en-US" sz="1600" dirty="0">
                <a:solidFill>
                  <a:srgbClr val="00B050"/>
                </a:solidFill>
              </a:rPr>
              <a:t>example.com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423810-2622-FC61-D70F-6B6C1FFC26FD}"/>
              </a:ext>
            </a:extLst>
          </p:cNvPr>
          <p:cNvSpPr txBox="1"/>
          <p:nvPr/>
        </p:nvSpPr>
        <p:spPr>
          <a:xfrm>
            <a:off x="5550909" y="5040266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Incorrectly allowed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B410D13-2F8B-3F64-BBC6-1326101E92D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6209521" y="3866023"/>
            <a:ext cx="14247" cy="686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A red circle with a white x in it&#10;&#10;Description automatically generated">
            <a:extLst>
              <a:ext uri="{FF2B5EF4-FFF2-40B4-BE49-F238E27FC236}">
                <a16:creationId xmlns:a16="http://schemas.microsoft.com/office/drawing/2014/main" id="{9C97D7BF-BB88-E3FF-98CA-4D308D4F27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 flipV="1">
            <a:off x="5103085" y="5019064"/>
            <a:ext cx="447824" cy="447824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FBB785B-A3B5-E7F7-B59B-939EBC1E8E32}"/>
              </a:ext>
            </a:extLst>
          </p:cNvPr>
          <p:cNvCxnSpPr>
            <a:stCxn id="11" idx="2"/>
          </p:cNvCxnSpPr>
          <p:nvPr/>
        </p:nvCxnSpPr>
        <p:spPr>
          <a:xfrm flipH="1">
            <a:off x="2738252" y="3917249"/>
            <a:ext cx="1" cy="635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959BB6A-3C7B-2F6A-EC5F-F49EEC76CF49}"/>
              </a:ext>
            </a:extLst>
          </p:cNvPr>
          <p:cNvSpPr txBox="1"/>
          <p:nvPr/>
        </p:nvSpPr>
        <p:spPr>
          <a:xfrm>
            <a:off x="673625" y="4545010"/>
            <a:ext cx="34546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https://</a:t>
            </a:r>
            <a:r>
              <a:rPr lang="en-US" sz="1600" dirty="0" err="1">
                <a:solidFill>
                  <a:srgbClr val="C00000"/>
                </a:solidFill>
              </a:rPr>
              <a:t>attacker.com</a:t>
            </a:r>
            <a:r>
              <a:rPr lang="en-US" sz="1600" dirty="0"/>
              <a:t>/@</a:t>
            </a:r>
            <a:r>
              <a:rPr lang="en-US" sz="1600" dirty="0" err="1"/>
              <a:t>example.com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F8ADF8-A192-930E-C6A1-7715E250ADE7}"/>
              </a:ext>
            </a:extLst>
          </p:cNvPr>
          <p:cNvSpPr txBox="1"/>
          <p:nvPr/>
        </p:nvSpPr>
        <p:spPr>
          <a:xfrm>
            <a:off x="1259632" y="5057763"/>
            <a:ext cx="2788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Redirects to </a:t>
            </a:r>
            <a:r>
              <a:rPr lang="en-US" dirty="0" err="1"/>
              <a:t>attacker.com</a:t>
            </a:r>
            <a:endParaRPr lang="en-US" dirty="0"/>
          </a:p>
        </p:txBody>
      </p:sp>
      <p:pic>
        <p:nvPicPr>
          <p:cNvPr id="36" name="Picture 35" descr="A red triangle with a black exclamation mark&#10;&#10;Description automatically generated">
            <a:extLst>
              <a:ext uri="{FF2B5EF4-FFF2-40B4-BE49-F238E27FC236}">
                <a16:creationId xmlns:a16="http://schemas.microsoft.com/office/drawing/2014/main" id="{FA43A11B-FC20-8716-1A04-CD0D4110F0D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827584" y="4980193"/>
            <a:ext cx="555436" cy="4894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F24A87-DF9D-52A0-A3BA-008901119CA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23733" y="1709662"/>
            <a:ext cx="49530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2288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3EDA6-7F6D-AAB4-2AAA-0CA458A55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968A4-0041-05B1-7B11-6BF075AD4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Non-ASCII Characters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F1D2A1-B793-328E-531C-11EB91287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1690689"/>
            <a:ext cx="4953000" cy="533400"/>
          </a:xfrm>
          <a:prstGeom prst="rect">
            <a:avLst/>
          </a:prstGeom>
        </p:spPr>
      </p:pic>
      <p:pic>
        <p:nvPicPr>
          <p:cNvPr id="5" name="Picture 4" descr="A compass and globe with different symbols&#10;&#10;Description automatically generated with medium confidence">
            <a:extLst>
              <a:ext uri="{FF2B5EF4-FFF2-40B4-BE49-F238E27FC236}">
                <a16:creationId xmlns:a16="http://schemas.microsoft.com/office/drawing/2014/main" id="{3083D76E-B7FA-CF1B-8834-BBA0172F97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250003" y="2940750"/>
            <a:ext cx="976499" cy="976499"/>
          </a:xfrm>
          <a:prstGeom prst="rect">
            <a:avLst/>
          </a:prstGeom>
        </p:spPr>
      </p:pic>
      <p:pic>
        <p:nvPicPr>
          <p:cNvPr id="7" name="Content Placeholder 13" descr="A logo of a database&#10;&#10;Description automatically generated">
            <a:extLst>
              <a:ext uri="{FF2B5EF4-FFF2-40B4-BE49-F238E27FC236}">
                <a16:creationId xmlns:a16="http://schemas.microsoft.com/office/drawing/2014/main" id="{4C4E4535-7D2E-F194-7F70-50F3E6043F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rcRect b="39048"/>
          <a:stretch/>
        </p:blipFill>
        <p:spPr>
          <a:xfrm>
            <a:off x="5561821" y="3053223"/>
            <a:ext cx="1295400" cy="812800"/>
          </a:xfrm>
          <a:prstGeom prst="rect">
            <a:avLst/>
          </a:prstGeom>
        </p:spPr>
      </p:pic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D93DD607-DFCF-EC47-F0DB-4282E61186CF}"/>
              </a:ext>
            </a:extLst>
          </p:cNvPr>
          <p:cNvCxnSpPr>
            <a:endCxn id="7" idx="0"/>
          </p:cNvCxnSpPr>
          <p:nvPr/>
        </p:nvCxnSpPr>
        <p:spPr>
          <a:xfrm>
            <a:off x="4500233" y="2605514"/>
            <a:ext cx="1709288" cy="44770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65A9AF7-F84B-EC3A-9514-6FF32E4E9487}"/>
              </a:ext>
            </a:extLst>
          </p:cNvPr>
          <p:cNvSpPr txBox="1"/>
          <p:nvPr/>
        </p:nvSpPr>
        <p:spPr>
          <a:xfrm>
            <a:off x="2786551" y="3898679"/>
            <a:ext cx="1266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Browsers decode %ff </a:t>
            </a:r>
            <a:br>
              <a:rPr lang="en-US" sz="1200" dirty="0"/>
            </a:br>
            <a:r>
              <a:rPr lang="en-US" sz="1200" dirty="0"/>
              <a:t>into </a:t>
            </a:r>
            <a:r>
              <a:rPr lang="en-US" sz="1200" b="1" dirty="0"/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7CEB21-C40A-4FE9-10B8-C41E76DF4A4E}"/>
              </a:ext>
            </a:extLst>
          </p:cNvPr>
          <p:cNvSpPr txBox="1"/>
          <p:nvPr/>
        </p:nvSpPr>
        <p:spPr>
          <a:xfrm>
            <a:off x="6200780" y="3883290"/>
            <a:ext cx="12669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Validator decodes %ff into character </a:t>
            </a:r>
            <a:r>
              <a:rPr lang="en-US" sz="1200" b="1" dirty="0" err="1"/>
              <a:t>ÿ</a:t>
            </a:r>
            <a:endParaRPr lang="en-US" sz="1200" b="1" dirty="0"/>
          </a:p>
          <a:p>
            <a:endParaRPr 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81324D-E9F7-0920-8DF6-5EC98F610F25}"/>
              </a:ext>
            </a:extLst>
          </p:cNvPr>
          <p:cNvSpPr txBox="1"/>
          <p:nvPr/>
        </p:nvSpPr>
        <p:spPr>
          <a:xfrm>
            <a:off x="4751527" y="4552582"/>
            <a:ext cx="3348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https://</a:t>
            </a:r>
            <a:r>
              <a:rPr lang="en-US" sz="1600" dirty="0" err="1"/>
              <a:t>attacker.com</a:t>
            </a:r>
            <a:r>
              <a:rPr lang="en-US" sz="1600" b="1" dirty="0" err="1"/>
              <a:t>ÿ</a:t>
            </a:r>
            <a:r>
              <a:rPr lang="en-US" sz="1600" dirty="0" err="1"/>
              <a:t>.</a:t>
            </a:r>
            <a:r>
              <a:rPr lang="en-US" sz="1600" dirty="0" err="1">
                <a:solidFill>
                  <a:srgbClr val="00B050"/>
                </a:solidFill>
              </a:rPr>
              <a:t>example.com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FC9931-707B-25C7-853E-A03358587E3D}"/>
              </a:ext>
            </a:extLst>
          </p:cNvPr>
          <p:cNvSpPr txBox="1"/>
          <p:nvPr/>
        </p:nvSpPr>
        <p:spPr>
          <a:xfrm>
            <a:off x="5550909" y="5040266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Incorrectly allowed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0D91011-8BFD-36BD-A069-9D3368C3AA48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6209521" y="3866023"/>
            <a:ext cx="14247" cy="686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A red circle with a white x in it&#10;&#10;Description automatically generated">
            <a:extLst>
              <a:ext uri="{FF2B5EF4-FFF2-40B4-BE49-F238E27FC236}">
                <a16:creationId xmlns:a16="http://schemas.microsoft.com/office/drawing/2014/main" id="{CE1A3548-E06A-D4B0-CB77-F514FA6D31E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 flipV="1">
            <a:off x="5103085" y="5019064"/>
            <a:ext cx="447824" cy="447824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CBC5CE-5DA8-C12D-DB2B-214C448FFCF0}"/>
              </a:ext>
            </a:extLst>
          </p:cNvPr>
          <p:cNvCxnSpPr>
            <a:stCxn id="5" idx="2"/>
          </p:cNvCxnSpPr>
          <p:nvPr/>
        </p:nvCxnSpPr>
        <p:spPr>
          <a:xfrm flipH="1">
            <a:off x="2738252" y="3917249"/>
            <a:ext cx="1" cy="635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8B000EA-C16F-091A-18B3-5BBDB99ABD75}"/>
              </a:ext>
            </a:extLst>
          </p:cNvPr>
          <p:cNvSpPr txBox="1"/>
          <p:nvPr/>
        </p:nvSpPr>
        <p:spPr>
          <a:xfrm>
            <a:off x="673625" y="4545010"/>
            <a:ext cx="33600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https://</a:t>
            </a:r>
            <a:r>
              <a:rPr lang="en-US" sz="1600" dirty="0">
                <a:solidFill>
                  <a:srgbClr val="C00000"/>
                </a:solidFill>
              </a:rPr>
              <a:t>attacker.com</a:t>
            </a:r>
            <a:r>
              <a:rPr lang="en-US" sz="1600" dirty="0"/>
              <a:t>?.</a:t>
            </a:r>
            <a:r>
              <a:rPr lang="en-US" sz="1600" dirty="0" err="1"/>
              <a:t>example.com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37FD8F-E58E-17DA-8298-8B7F5798756F}"/>
              </a:ext>
            </a:extLst>
          </p:cNvPr>
          <p:cNvSpPr txBox="1"/>
          <p:nvPr/>
        </p:nvSpPr>
        <p:spPr>
          <a:xfrm>
            <a:off x="1259632" y="5057763"/>
            <a:ext cx="2788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Redirects to </a:t>
            </a:r>
            <a:r>
              <a:rPr lang="en-US" dirty="0" err="1"/>
              <a:t>attacker.com</a:t>
            </a:r>
            <a:endParaRPr lang="en-US" dirty="0"/>
          </a:p>
        </p:txBody>
      </p:sp>
      <p:pic>
        <p:nvPicPr>
          <p:cNvPr id="27" name="Picture 26" descr="A red triangle with a black exclamation mark&#10;&#10;Description automatically generated">
            <a:extLst>
              <a:ext uri="{FF2B5EF4-FFF2-40B4-BE49-F238E27FC236}">
                <a16:creationId xmlns:a16="http://schemas.microsoft.com/office/drawing/2014/main" id="{EE7DEBE3-AFDA-5285-6ADF-23A5D6B0689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827584" y="4980193"/>
            <a:ext cx="555436" cy="489478"/>
          </a:xfrm>
          <a:prstGeom prst="rect">
            <a:avLst/>
          </a:prstGeom>
        </p:spPr>
      </p:pic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74DF1E7E-067D-08CA-35FC-04CD048FCA12}"/>
              </a:ext>
            </a:extLst>
          </p:cNvPr>
          <p:cNvCxnSpPr>
            <a:cxnSpLocks/>
          </p:cNvCxnSpPr>
          <p:nvPr/>
        </p:nvCxnSpPr>
        <p:spPr>
          <a:xfrm rot="5400000">
            <a:off x="3286379" y="1733722"/>
            <a:ext cx="658903" cy="17551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05E5346-7922-89CE-D6BA-141A21C291AD}"/>
              </a:ext>
            </a:extLst>
          </p:cNvPr>
          <p:cNvSpPr txBox="1"/>
          <p:nvPr/>
        </p:nvSpPr>
        <p:spPr>
          <a:xfrm>
            <a:off x="4932040" y="5679788"/>
            <a:ext cx="34163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/>
              <a:t>attacker.comÿ</a:t>
            </a:r>
            <a:r>
              <a:rPr lang="en-US" sz="1800" dirty="0"/>
              <a:t> is the subdomain</a:t>
            </a:r>
            <a:br>
              <a:rPr lang="en-US" sz="1800" dirty="0"/>
            </a:br>
            <a:r>
              <a:rPr lang="en-US" sz="1800" dirty="0" err="1"/>
              <a:t>example.com</a:t>
            </a:r>
            <a:r>
              <a:rPr lang="en-US" sz="1800" dirty="0"/>
              <a:t> is the domain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F5740F-8432-136D-31BE-60ABD4585292}"/>
              </a:ext>
            </a:extLst>
          </p:cNvPr>
          <p:cNvSpPr txBox="1"/>
          <p:nvPr/>
        </p:nvSpPr>
        <p:spPr>
          <a:xfrm>
            <a:off x="1071156" y="5643870"/>
            <a:ext cx="268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</a:t>
            </a:r>
            <a:r>
              <a:rPr lang="en-US" dirty="0" err="1"/>
              <a:t>example.com</a:t>
            </a:r>
            <a:r>
              <a:rPr lang="en-US" dirty="0"/>
              <a:t> is a query</a:t>
            </a:r>
          </a:p>
        </p:txBody>
      </p:sp>
    </p:spTree>
    <p:extLst>
      <p:ext uri="{BB962C8B-B14F-4D97-AF65-F5344CB8AC3E}">
        <p14:creationId xmlns:p14="http://schemas.microsoft.com/office/powerpoint/2010/main" val="10198873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714BF-8AC0-7B15-B921-09394E0C0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exploit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F9B3D-31E1-1749-2948-094708196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URL would defeat more sophisticated layered defenses.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above URL will trick validators looking for site’s domain name at the beginning or ending of the redirection URL.</a:t>
            </a:r>
          </a:p>
          <a:p>
            <a:r>
              <a:rPr lang="en-US" dirty="0"/>
              <a:t>At the same time, the above URL will trick any validator which overdecodes the URL.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C1E5E4-7F21-92D0-EB25-71B519520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100" y="2780928"/>
            <a:ext cx="62738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9566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E79ED-0888-856A-BEFE-2CCEBC34E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Escalating the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8F5F8-5043-31DB-83EE-55A42C492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84784"/>
            <a:ext cx="78867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Open redirect could add credibility to phishing attacks! How?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Step 1:</a:t>
            </a:r>
          </a:p>
          <a:p>
            <a:pPr marL="0" indent="0">
              <a:buNone/>
            </a:pPr>
            <a:r>
              <a:rPr lang="en-US" dirty="0"/>
              <a:t>An attacker sends a seemingly legitimate URL that stealthily redirects to a malicious page. For example,</a:t>
            </a:r>
          </a:p>
          <a:p>
            <a:endParaRPr lang="en-US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/>
              <a:t>Step 2:</a:t>
            </a:r>
          </a:p>
          <a:p>
            <a:pPr marL="0" indent="0">
              <a:buNone/>
            </a:pPr>
            <a:r>
              <a:rPr lang="en-US" dirty="0"/>
              <a:t>The victim clicks the link, visits the legitimate website, enters his credentials, and then redirected to a fake login page.</a:t>
            </a:r>
          </a:p>
          <a:p>
            <a:pPr marL="0" indent="0">
              <a:buNone/>
            </a:pPr>
            <a:r>
              <a:rPr lang="en-US" u="sng" dirty="0"/>
              <a:t>Step 3:</a:t>
            </a:r>
          </a:p>
          <a:p>
            <a:pPr marL="0" indent="0">
              <a:buNone/>
            </a:pPr>
            <a:r>
              <a:rPr lang="en-US" dirty="0"/>
              <a:t>The fake login page, that mimics the legitimate login page, would trick the victim into logging again.</a:t>
            </a:r>
          </a:p>
          <a:p>
            <a:pPr marL="0" indent="0">
              <a:buNone/>
            </a:pPr>
            <a:r>
              <a:rPr lang="en-US" u="sng" dirty="0"/>
              <a:t>Step 4:</a:t>
            </a:r>
          </a:p>
          <a:p>
            <a:pPr marL="0" indent="0">
              <a:buNone/>
            </a:pPr>
            <a:r>
              <a:rPr lang="en-US" dirty="0"/>
              <a:t>The victim will provide credentials to the attacker’s site thinking that he has not entered them correctly in the first attempt.</a:t>
            </a:r>
          </a:p>
          <a:p>
            <a:pPr marL="0" indent="0">
              <a:buNone/>
            </a:pPr>
            <a:r>
              <a:rPr lang="en-US" u="sng" dirty="0"/>
              <a:t>Step 5:</a:t>
            </a:r>
          </a:p>
          <a:p>
            <a:pPr marL="0" indent="0">
              <a:buNone/>
            </a:pPr>
            <a:r>
              <a:rPr lang="en-US" dirty="0"/>
              <a:t>Redirect the victim back to the legitimate site.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90295B-E91B-7802-747A-AA8C980D0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670" y="2708920"/>
            <a:ext cx="7228657" cy="43558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782AD5-8C7E-B342-ABA1-17F1E89E7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213891" y="359096"/>
            <a:ext cx="1325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5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096C0-5E3C-5F2F-5E1C-398C45063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Escalating the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C82B3-4915-BDA5-EDD1-A80FDD98C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Open redirect could help an attacker bypass allowlists for conducting a Server-Side Request Forgery (SSRF) attack.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Attackers could use open redirects to steal credentials and Open Authentication (OAuth) tokens.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794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HD:Users:lpb:admin:consult:Prentice-Hall:Slides:ch01.ppt</Template>
  <TotalTime>8792</TotalTime>
  <Words>1343</Words>
  <Application>Microsoft Office PowerPoint</Application>
  <PresentationFormat>On-screen Show (4:3)</PresentationFormat>
  <Paragraphs>213</Paragraphs>
  <Slides>26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Aptos Display</vt:lpstr>
      <vt:lpstr>Arial</vt:lpstr>
      <vt:lpstr>Cambria</vt:lpstr>
      <vt:lpstr>Times New Roman</vt:lpstr>
      <vt:lpstr>Wingdings</vt:lpstr>
      <vt:lpstr>Office Theme</vt:lpstr>
      <vt:lpstr>Systems and Internet Security Technologies</vt:lpstr>
      <vt:lpstr>Lecture 4</vt:lpstr>
      <vt:lpstr>PowerPoint Presentation</vt:lpstr>
      <vt:lpstr>Mechanism</vt:lpstr>
      <vt:lpstr>Escalating open redirect attacks</vt:lpstr>
      <vt:lpstr>Referrer-based Open Redirect</vt:lpstr>
      <vt:lpstr>How to prevent open redirect attacks?</vt:lpstr>
      <vt:lpstr>Why open redirects are so prevalent?</vt:lpstr>
      <vt:lpstr>How to find open redirect vulnerabilities?</vt:lpstr>
      <vt:lpstr>How to find open redirect vulnerabilities? (cont.)</vt:lpstr>
      <vt:lpstr>Manually testing for open redirect</vt:lpstr>
      <vt:lpstr>Manually testing for referrer-based open redirects</vt:lpstr>
      <vt:lpstr>Open-Redirect Protection Issues</vt:lpstr>
      <vt:lpstr>Evading Open-Redirect Protection</vt:lpstr>
      <vt:lpstr>Abusing browser autocorrect features</vt:lpstr>
      <vt:lpstr>Abusing browser autocorrect features (cont.)</vt:lpstr>
      <vt:lpstr>Exploiting flawed validator logic</vt:lpstr>
      <vt:lpstr>Exploiting flawed validator logic (cont.)</vt:lpstr>
      <vt:lpstr>Using Data URLs</vt:lpstr>
      <vt:lpstr>Exploiting URL decoding</vt:lpstr>
      <vt:lpstr>Double Encoding</vt:lpstr>
      <vt:lpstr>Double Encoding (cont.)</vt:lpstr>
      <vt:lpstr>Non-ASCII Characters</vt:lpstr>
      <vt:lpstr>Combining exploit techniques</vt:lpstr>
      <vt:lpstr>Escalating the attack</vt:lpstr>
      <vt:lpstr>Escalating the attack</vt:lpstr>
    </vt:vector>
  </TitlesOfParts>
  <Manager/>
  <Company>School of Eng &amp; IT, UNSW@ADFA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 Stallings, Cryptography and Network Security 5/e</dc:title>
  <dc:subject>Lecture Overheads - Ch 20</dc:subject>
  <dc:creator>Dr Lawrie Brown</dc:creator>
  <cp:keywords/>
  <dc:description/>
  <cp:lastModifiedBy>Fatma Ayoub Ahmed Abdelaziz</cp:lastModifiedBy>
  <cp:revision>60</cp:revision>
  <dcterms:created xsi:type="dcterms:W3CDTF">2013-04-29T20:01:37Z</dcterms:created>
  <dcterms:modified xsi:type="dcterms:W3CDTF">2025-11-02T21:26:20Z</dcterms:modified>
  <cp:category/>
</cp:coreProperties>
</file>